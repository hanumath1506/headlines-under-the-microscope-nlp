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1" r:id="rId1"/>
  </p:sldMasterIdLst>
  <p:notesMasterIdLst>
    <p:notesMasterId r:id="rId36"/>
  </p:notesMasterIdLst>
  <p:sldIdLst>
    <p:sldId id="284" r:id="rId2"/>
    <p:sldId id="257" r:id="rId3"/>
    <p:sldId id="260" r:id="rId4"/>
    <p:sldId id="258" r:id="rId5"/>
    <p:sldId id="285" r:id="rId6"/>
    <p:sldId id="282" r:id="rId7"/>
    <p:sldId id="286" r:id="rId8"/>
    <p:sldId id="291" r:id="rId9"/>
    <p:sldId id="279" r:id="rId10"/>
    <p:sldId id="267" r:id="rId11"/>
    <p:sldId id="298" r:id="rId12"/>
    <p:sldId id="268" r:id="rId13"/>
    <p:sldId id="269" r:id="rId14"/>
    <p:sldId id="270" r:id="rId15"/>
    <p:sldId id="272" r:id="rId16"/>
    <p:sldId id="297" r:id="rId17"/>
    <p:sldId id="293" r:id="rId18"/>
    <p:sldId id="287" r:id="rId19"/>
    <p:sldId id="288" r:id="rId20"/>
    <p:sldId id="289" r:id="rId21"/>
    <p:sldId id="290" r:id="rId22"/>
    <p:sldId id="294" r:id="rId23"/>
    <p:sldId id="301" r:id="rId24"/>
    <p:sldId id="295" r:id="rId25"/>
    <p:sldId id="303" r:id="rId26"/>
    <p:sldId id="283" r:id="rId27"/>
    <p:sldId id="302" r:id="rId28"/>
    <p:sldId id="299" r:id="rId29"/>
    <p:sldId id="277" r:id="rId30"/>
    <p:sldId id="304" r:id="rId31"/>
    <p:sldId id="305" r:id="rId32"/>
    <p:sldId id="300" r:id="rId33"/>
    <p:sldId id="306" r:id="rId34"/>
    <p:sldId id="296" r:id="rId3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37"/>
      <p:bold r:id="rId38"/>
      <p:italic r:id="rId39"/>
      <p:boldItalic r:id="rId40"/>
    </p:embeddedFont>
    <p:embeddedFont>
      <p:font typeface="Rockwell" panose="02060603020205020403" pitchFamily="18" charset="0"/>
      <p:regular r:id="rId41"/>
      <p:bold r:id="rId42"/>
      <p:italic r:id="rId43"/>
      <p:boldItalic r:id="rId44"/>
    </p:embeddedFont>
    <p:embeddedFont>
      <p:font typeface="Rockwell Condensed" panose="02060603050405020104" pitchFamily="18" charset="0"/>
      <p:regular r:id="rId45"/>
      <p:bold r:id="rId46"/>
    </p:embeddedFont>
    <p:embeddedFont>
      <p:font typeface="Rockwell Extra Bold" panose="02060903040505020403" pitchFamily="18" charset="0"/>
      <p:bold r:id="rId47"/>
    </p:embeddedFont>
    <p:embeddedFont>
      <p:font typeface="Wingdings 3" panose="05040102010807070707" pitchFamily="18" charset="2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A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B61EAE-95A6-40E2-9781-FA54CC014089}" v="3893" dt="2026-02-01T04:41:44.361"/>
    <p1510:client id="{7CE9ECAE-986C-50A2-CB6B-2D8E9921CA8C}" v="29" dt="2026-02-01T04:30:11.885"/>
    <p1510:client id="{BDD77E4B-920F-2E10-6B71-7F25BA7CDDEB}" v="126" dt="2026-02-01T02:50:13.428"/>
    <p1510:client id="{DB08D05B-81AA-D736-3360-A63FD4080A59}" v="34" dt="2026-02-01T04:04:58.874"/>
    <p1510:client id="{EFF23849-1DD4-9C47-8B46-37F037DB0246}" v="22" dt="2026-01-31T16:40:33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8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DFA2DD-8B07-4B64-B098-F0D01E28CAD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376E24-150C-49C0-931C-5A2CE17106E4}">
      <dgm:prSet/>
      <dgm:spPr/>
      <dgm:t>
        <a:bodyPr/>
        <a:lstStyle/>
        <a:p>
          <a:r>
            <a:rPr lang="en-US" dirty="0"/>
            <a:t>1. Data Preprocessing &amp; Cleaning.</a:t>
          </a:r>
        </a:p>
      </dgm:t>
    </dgm:pt>
    <dgm:pt modelId="{7EEE0BB3-19F5-471F-955D-A67D8F4D5E43}" type="parTrans" cxnId="{E510CDAF-0235-4E29-B078-3822640CC13D}">
      <dgm:prSet/>
      <dgm:spPr/>
      <dgm:t>
        <a:bodyPr/>
        <a:lstStyle/>
        <a:p>
          <a:endParaRPr lang="en-US"/>
        </a:p>
      </dgm:t>
    </dgm:pt>
    <dgm:pt modelId="{0C787144-3C0B-42DB-9F66-A094BD172CB0}" type="sibTrans" cxnId="{E510CDAF-0235-4E29-B078-3822640CC13D}">
      <dgm:prSet/>
      <dgm:spPr/>
      <dgm:t>
        <a:bodyPr/>
        <a:lstStyle/>
        <a:p>
          <a:endParaRPr lang="en-US"/>
        </a:p>
      </dgm:t>
    </dgm:pt>
    <dgm:pt modelId="{A23F93EF-0666-4E92-BB3B-39113734A4CD}">
      <dgm:prSet/>
      <dgm:spPr/>
      <dgm:t>
        <a:bodyPr/>
        <a:lstStyle/>
        <a:p>
          <a:r>
            <a:rPr lang="en-US" dirty="0"/>
            <a:t>2. Semantic Embedding Generation.</a:t>
          </a:r>
        </a:p>
      </dgm:t>
    </dgm:pt>
    <dgm:pt modelId="{F44133C9-08EB-4ABE-A437-A4DC921BC48F}" type="parTrans" cxnId="{6C9DC4E0-633F-43EE-9ECB-E9214CFD6736}">
      <dgm:prSet/>
      <dgm:spPr/>
      <dgm:t>
        <a:bodyPr/>
        <a:lstStyle/>
        <a:p>
          <a:endParaRPr lang="en-US"/>
        </a:p>
      </dgm:t>
    </dgm:pt>
    <dgm:pt modelId="{347E3988-3EB1-45FC-9F7C-ECE80328C664}" type="sibTrans" cxnId="{6C9DC4E0-633F-43EE-9ECB-E9214CFD6736}">
      <dgm:prSet/>
      <dgm:spPr/>
      <dgm:t>
        <a:bodyPr/>
        <a:lstStyle/>
        <a:p>
          <a:endParaRPr lang="en-US"/>
        </a:p>
      </dgm:t>
    </dgm:pt>
    <dgm:pt modelId="{AE3CFA20-8798-444F-8B82-70756B821D4F}">
      <dgm:prSet/>
      <dgm:spPr/>
      <dgm:t>
        <a:bodyPr/>
        <a:lstStyle/>
        <a:p>
          <a:r>
            <a:rPr lang="en-US" dirty="0"/>
            <a:t>5. Sentiment &amp; Impact Analysis.</a:t>
          </a:r>
        </a:p>
      </dgm:t>
    </dgm:pt>
    <dgm:pt modelId="{9C609CE9-F904-4AB7-B258-46649A39681A}" type="parTrans" cxnId="{C0D3220D-6DDD-4F42-9D32-DA9B4C89B3DC}">
      <dgm:prSet/>
      <dgm:spPr/>
      <dgm:t>
        <a:bodyPr/>
        <a:lstStyle/>
        <a:p>
          <a:endParaRPr lang="en-US"/>
        </a:p>
      </dgm:t>
    </dgm:pt>
    <dgm:pt modelId="{B6B60E79-9982-42EE-871E-42C4951F6E7F}" type="sibTrans" cxnId="{C0D3220D-6DDD-4F42-9D32-DA9B4C89B3DC}">
      <dgm:prSet/>
      <dgm:spPr/>
      <dgm:t>
        <a:bodyPr/>
        <a:lstStyle/>
        <a:p>
          <a:endParaRPr lang="en-US"/>
        </a:p>
      </dgm:t>
    </dgm:pt>
    <dgm:pt modelId="{046763D6-D35F-4672-B816-152B5B0B7025}">
      <dgm:prSet/>
      <dgm:spPr/>
      <dgm:t>
        <a:bodyPr/>
        <a:lstStyle/>
        <a:p>
          <a:r>
            <a:rPr lang="en-US" dirty="0"/>
            <a:t>6. Actionable Insight Generation via LLM.</a:t>
          </a:r>
        </a:p>
      </dgm:t>
    </dgm:pt>
    <dgm:pt modelId="{321D8783-7FC3-4132-AC15-C2518B253EC7}" type="parTrans" cxnId="{0F452E6D-98BB-46FD-9EEC-0D4F36BBE22A}">
      <dgm:prSet/>
      <dgm:spPr/>
      <dgm:t>
        <a:bodyPr/>
        <a:lstStyle/>
        <a:p>
          <a:endParaRPr lang="en-US"/>
        </a:p>
      </dgm:t>
    </dgm:pt>
    <dgm:pt modelId="{8360DD42-58AE-4DFD-9E7B-71D6A59F5376}" type="sibTrans" cxnId="{0F452E6D-98BB-46FD-9EEC-0D4F36BBE22A}">
      <dgm:prSet/>
      <dgm:spPr/>
      <dgm:t>
        <a:bodyPr/>
        <a:lstStyle/>
        <a:p>
          <a:endParaRPr lang="en-US"/>
        </a:p>
      </dgm:t>
    </dgm:pt>
    <dgm:pt modelId="{219D005B-213F-483E-B6FF-44F7A71F8D19}">
      <dgm:prSet/>
      <dgm:spPr/>
      <dgm:t>
        <a:bodyPr/>
        <a:lstStyle/>
        <a:p>
          <a:r>
            <a:rPr lang="en-US" dirty="0"/>
            <a:t>3. Clustering</a:t>
          </a:r>
        </a:p>
      </dgm:t>
    </dgm:pt>
    <dgm:pt modelId="{1B7C5CCF-D8D9-45F5-B99D-DF0E811AB29A}" type="parTrans" cxnId="{E5D8A610-4AFF-4DC4-92E0-6A3DDF5A4AE4}">
      <dgm:prSet/>
      <dgm:spPr/>
      <dgm:t>
        <a:bodyPr/>
        <a:lstStyle/>
        <a:p>
          <a:endParaRPr lang="en-US"/>
        </a:p>
      </dgm:t>
    </dgm:pt>
    <dgm:pt modelId="{328CB4C5-5CF6-4796-9E94-7FFD341C27C2}" type="sibTrans" cxnId="{E5D8A610-4AFF-4DC4-92E0-6A3DDF5A4AE4}">
      <dgm:prSet/>
      <dgm:spPr/>
      <dgm:t>
        <a:bodyPr/>
        <a:lstStyle/>
        <a:p>
          <a:endParaRPr lang="en-US"/>
        </a:p>
      </dgm:t>
    </dgm:pt>
    <dgm:pt modelId="{D5CAA9D8-2D8C-464E-8D8D-3C5C028D3CA5}">
      <dgm:prSet/>
      <dgm:spPr/>
      <dgm:t>
        <a:bodyPr/>
        <a:lstStyle/>
        <a:p>
          <a:r>
            <a:rPr lang="en-US" dirty="0"/>
            <a:t>4. Automated Cluster Naming</a:t>
          </a:r>
        </a:p>
      </dgm:t>
    </dgm:pt>
    <dgm:pt modelId="{936E0963-252A-46A9-BE39-A048B4757FF3}" type="parTrans" cxnId="{E574BB7B-DAB0-478C-9647-51F9287B50D6}">
      <dgm:prSet/>
      <dgm:spPr/>
      <dgm:t>
        <a:bodyPr/>
        <a:lstStyle/>
        <a:p>
          <a:endParaRPr lang="en-US"/>
        </a:p>
      </dgm:t>
    </dgm:pt>
    <dgm:pt modelId="{96D06049-A233-4711-B619-88F4E88E6C07}" type="sibTrans" cxnId="{E574BB7B-DAB0-478C-9647-51F9287B50D6}">
      <dgm:prSet/>
      <dgm:spPr/>
      <dgm:t>
        <a:bodyPr/>
        <a:lstStyle/>
        <a:p>
          <a:endParaRPr lang="en-US"/>
        </a:p>
      </dgm:t>
    </dgm:pt>
    <dgm:pt modelId="{0CF3B2CC-C384-48C4-9EE1-F82179E39171}" type="pres">
      <dgm:prSet presAssocID="{8DDFA2DD-8B07-4B64-B098-F0D01E28CADD}" presName="linear" presStyleCnt="0">
        <dgm:presLayoutVars>
          <dgm:animLvl val="lvl"/>
          <dgm:resizeHandles val="exact"/>
        </dgm:presLayoutVars>
      </dgm:prSet>
      <dgm:spPr/>
    </dgm:pt>
    <dgm:pt modelId="{CF722728-6AE5-40A2-8AEB-AB2D9F7625EB}" type="pres">
      <dgm:prSet presAssocID="{E9376E24-150C-49C0-931C-5A2CE17106E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598004F-152F-4575-B2DA-D35E71CDF831}" type="pres">
      <dgm:prSet presAssocID="{0C787144-3C0B-42DB-9F66-A094BD172CB0}" presName="spacer" presStyleCnt="0"/>
      <dgm:spPr/>
    </dgm:pt>
    <dgm:pt modelId="{8DD488D4-3260-4957-9507-649F5B5FA7D3}" type="pres">
      <dgm:prSet presAssocID="{A23F93EF-0666-4E92-BB3B-39113734A4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1D07F3-6493-4065-8867-D6568F653C66}" type="pres">
      <dgm:prSet presAssocID="{347E3988-3EB1-45FC-9F7C-ECE80328C664}" presName="spacer" presStyleCnt="0"/>
      <dgm:spPr/>
    </dgm:pt>
    <dgm:pt modelId="{08E6851F-D657-44FE-81C8-0D6158A90127}" type="pres">
      <dgm:prSet presAssocID="{219D005B-213F-483E-B6FF-44F7A71F8D1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8B6FE3C-A781-458D-8879-7B39A9AFF782}" type="pres">
      <dgm:prSet presAssocID="{328CB4C5-5CF6-4796-9E94-7FFD341C27C2}" presName="spacer" presStyleCnt="0"/>
      <dgm:spPr/>
    </dgm:pt>
    <dgm:pt modelId="{3CC65C28-1291-482E-BCCE-767933662517}" type="pres">
      <dgm:prSet presAssocID="{D5CAA9D8-2D8C-464E-8D8D-3C5C028D3CA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61E264-349B-4B58-BC35-6D0C9D5FFEC2}" type="pres">
      <dgm:prSet presAssocID="{96D06049-A233-4711-B619-88F4E88E6C07}" presName="spacer" presStyleCnt="0"/>
      <dgm:spPr/>
    </dgm:pt>
    <dgm:pt modelId="{F8D8BE82-402D-4EB6-BDD1-BBDD2E3F49D8}" type="pres">
      <dgm:prSet presAssocID="{AE3CFA20-8798-444F-8B82-70756B821D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2ADC6A-44BF-4B8C-AC09-FE0D224D587A}" type="pres">
      <dgm:prSet presAssocID="{B6B60E79-9982-42EE-871E-42C4951F6E7F}" presName="spacer" presStyleCnt="0"/>
      <dgm:spPr/>
    </dgm:pt>
    <dgm:pt modelId="{F041B481-B4FC-4140-87CC-3632DA6A54C2}" type="pres">
      <dgm:prSet presAssocID="{046763D6-D35F-4672-B816-152B5B0B70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3E0A03-4A94-4546-83B7-C98A86A65119}" type="presOf" srcId="{E9376E24-150C-49C0-931C-5A2CE17106E4}" destId="{CF722728-6AE5-40A2-8AEB-AB2D9F7625EB}" srcOrd="0" destOrd="0" presId="urn:microsoft.com/office/officeart/2005/8/layout/vList2"/>
    <dgm:cxn modelId="{4922B709-FF13-4B90-8D8A-175ADFCB6A4D}" type="presOf" srcId="{D5CAA9D8-2D8C-464E-8D8D-3C5C028D3CA5}" destId="{3CC65C28-1291-482E-BCCE-767933662517}" srcOrd="0" destOrd="0" presId="urn:microsoft.com/office/officeart/2005/8/layout/vList2"/>
    <dgm:cxn modelId="{C0D3220D-6DDD-4F42-9D32-DA9B4C89B3DC}" srcId="{8DDFA2DD-8B07-4B64-B098-F0D01E28CADD}" destId="{AE3CFA20-8798-444F-8B82-70756B821D4F}" srcOrd="4" destOrd="0" parTransId="{9C609CE9-F904-4AB7-B258-46649A39681A}" sibTransId="{B6B60E79-9982-42EE-871E-42C4951F6E7F}"/>
    <dgm:cxn modelId="{E5D8A610-4AFF-4DC4-92E0-6A3DDF5A4AE4}" srcId="{8DDFA2DD-8B07-4B64-B098-F0D01E28CADD}" destId="{219D005B-213F-483E-B6FF-44F7A71F8D19}" srcOrd="2" destOrd="0" parTransId="{1B7C5CCF-D8D9-45F5-B99D-DF0E811AB29A}" sibTransId="{328CB4C5-5CF6-4796-9E94-7FFD341C27C2}"/>
    <dgm:cxn modelId="{0F452E6D-98BB-46FD-9EEC-0D4F36BBE22A}" srcId="{8DDFA2DD-8B07-4B64-B098-F0D01E28CADD}" destId="{046763D6-D35F-4672-B816-152B5B0B7025}" srcOrd="5" destOrd="0" parTransId="{321D8783-7FC3-4132-AC15-C2518B253EC7}" sibTransId="{8360DD42-58AE-4DFD-9E7B-71D6A59F5376}"/>
    <dgm:cxn modelId="{F540E157-822B-4A8D-8DFB-0C537F1B6761}" type="presOf" srcId="{046763D6-D35F-4672-B816-152B5B0B7025}" destId="{F041B481-B4FC-4140-87CC-3632DA6A54C2}" srcOrd="0" destOrd="0" presId="urn:microsoft.com/office/officeart/2005/8/layout/vList2"/>
    <dgm:cxn modelId="{E574BB7B-DAB0-478C-9647-51F9287B50D6}" srcId="{8DDFA2DD-8B07-4B64-B098-F0D01E28CADD}" destId="{D5CAA9D8-2D8C-464E-8D8D-3C5C028D3CA5}" srcOrd="3" destOrd="0" parTransId="{936E0963-252A-46A9-BE39-A048B4757FF3}" sibTransId="{96D06049-A233-4711-B619-88F4E88E6C07}"/>
    <dgm:cxn modelId="{3CB1589D-298C-424C-A614-B18D9EAA1087}" type="presOf" srcId="{8DDFA2DD-8B07-4B64-B098-F0D01E28CADD}" destId="{0CF3B2CC-C384-48C4-9EE1-F82179E39171}" srcOrd="0" destOrd="0" presId="urn:microsoft.com/office/officeart/2005/8/layout/vList2"/>
    <dgm:cxn modelId="{6D95FAA4-BCAD-4255-9CA8-4A99A8E8B78D}" type="presOf" srcId="{A23F93EF-0666-4E92-BB3B-39113734A4CD}" destId="{8DD488D4-3260-4957-9507-649F5B5FA7D3}" srcOrd="0" destOrd="0" presId="urn:microsoft.com/office/officeart/2005/8/layout/vList2"/>
    <dgm:cxn modelId="{E510CDAF-0235-4E29-B078-3822640CC13D}" srcId="{8DDFA2DD-8B07-4B64-B098-F0D01E28CADD}" destId="{E9376E24-150C-49C0-931C-5A2CE17106E4}" srcOrd="0" destOrd="0" parTransId="{7EEE0BB3-19F5-471F-955D-A67D8F4D5E43}" sibTransId="{0C787144-3C0B-42DB-9F66-A094BD172CB0}"/>
    <dgm:cxn modelId="{97D4D9D0-C3C7-47F6-A97F-CC512944D949}" type="presOf" srcId="{219D005B-213F-483E-B6FF-44F7A71F8D19}" destId="{08E6851F-D657-44FE-81C8-0D6158A90127}" srcOrd="0" destOrd="0" presId="urn:microsoft.com/office/officeart/2005/8/layout/vList2"/>
    <dgm:cxn modelId="{137ED9D9-FDDA-48BE-91D9-F594B03198D0}" type="presOf" srcId="{AE3CFA20-8798-444F-8B82-70756B821D4F}" destId="{F8D8BE82-402D-4EB6-BDD1-BBDD2E3F49D8}" srcOrd="0" destOrd="0" presId="urn:microsoft.com/office/officeart/2005/8/layout/vList2"/>
    <dgm:cxn modelId="{6C9DC4E0-633F-43EE-9ECB-E9214CFD6736}" srcId="{8DDFA2DD-8B07-4B64-B098-F0D01E28CADD}" destId="{A23F93EF-0666-4E92-BB3B-39113734A4CD}" srcOrd="1" destOrd="0" parTransId="{F44133C9-08EB-4ABE-A437-A4DC921BC48F}" sibTransId="{347E3988-3EB1-45FC-9F7C-ECE80328C664}"/>
    <dgm:cxn modelId="{9D0C6051-B3E7-439A-8098-A5582FD12C35}" type="presParOf" srcId="{0CF3B2CC-C384-48C4-9EE1-F82179E39171}" destId="{CF722728-6AE5-40A2-8AEB-AB2D9F7625EB}" srcOrd="0" destOrd="0" presId="urn:microsoft.com/office/officeart/2005/8/layout/vList2"/>
    <dgm:cxn modelId="{D09BF931-46BF-489A-953E-495E95E3D2AD}" type="presParOf" srcId="{0CF3B2CC-C384-48C4-9EE1-F82179E39171}" destId="{9598004F-152F-4575-B2DA-D35E71CDF831}" srcOrd="1" destOrd="0" presId="urn:microsoft.com/office/officeart/2005/8/layout/vList2"/>
    <dgm:cxn modelId="{DB4F487A-D48B-45E5-8FD4-F88F9F1BC4CC}" type="presParOf" srcId="{0CF3B2CC-C384-48C4-9EE1-F82179E39171}" destId="{8DD488D4-3260-4957-9507-649F5B5FA7D3}" srcOrd="2" destOrd="0" presId="urn:microsoft.com/office/officeart/2005/8/layout/vList2"/>
    <dgm:cxn modelId="{B9E7D10F-2AA0-4104-B9A6-677ECFF5EAC8}" type="presParOf" srcId="{0CF3B2CC-C384-48C4-9EE1-F82179E39171}" destId="{9B1D07F3-6493-4065-8867-D6568F653C66}" srcOrd="3" destOrd="0" presId="urn:microsoft.com/office/officeart/2005/8/layout/vList2"/>
    <dgm:cxn modelId="{075BA0A1-F321-404D-8A27-BCAEB87E3C06}" type="presParOf" srcId="{0CF3B2CC-C384-48C4-9EE1-F82179E39171}" destId="{08E6851F-D657-44FE-81C8-0D6158A90127}" srcOrd="4" destOrd="0" presId="urn:microsoft.com/office/officeart/2005/8/layout/vList2"/>
    <dgm:cxn modelId="{3BD5454C-FFBA-4D62-9FA7-C3D8EC19D1CF}" type="presParOf" srcId="{0CF3B2CC-C384-48C4-9EE1-F82179E39171}" destId="{68B6FE3C-A781-458D-8879-7B39A9AFF782}" srcOrd="5" destOrd="0" presId="urn:microsoft.com/office/officeart/2005/8/layout/vList2"/>
    <dgm:cxn modelId="{40E87A1A-2E85-4ED7-B164-95F3EDA376F1}" type="presParOf" srcId="{0CF3B2CC-C384-48C4-9EE1-F82179E39171}" destId="{3CC65C28-1291-482E-BCCE-767933662517}" srcOrd="6" destOrd="0" presId="urn:microsoft.com/office/officeart/2005/8/layout/vList2"/>
    <dgm:cxn modelId="{36BB1C78-4E8E-4D7E-A182-0A44EDBBC016}" type="presParOf" srcId="{0CF3B2CC-C384-48C4-9EE1-F82179E39171}" destId="{1961E264-349B-4B58-BC35-6D0C9D5FFEC2}" srcOrd="7" destOrd="0" presId="urn:microsoft.com/office/officeart/2005/8/layout/vList2"/>
    <dgm:cxn modelId="{FDADBCBF-F927-4C7F-B515-03254930D6BF}" type="presParOf" srcId="{0CF3B2CC-C384-48C4-9EE1-F82179E39171}" destId="{F8D8BE82-402D-4EB6-BDD1-BBDD2E3F49D8}" srcOrd="8" destOrd="0" presId="urn:microsoft.com/office/officeart/2005/8/layout/vList2"/>
    <dgm:cxn modelId="{C1D78493-5000-46C7-8A3B-B25504CF21E0}" type="presParOf" srcId="{0CF3B2CC-C384-48C4-9EE1-F82179E39171}" destId="{6C2ADC6A-44BF-4B8C-AC09-FE0D224D587A}" srcOrd="9" destOrd="0" presId="urn:microsoft.com/office/officeart/2005/8/layout/vList2"/>
    <dgm:cxn modelId="{9AEF5C76-D1E9-4501-AC06-49298E1D10D2}" type="presParOf" srcId="{0CF3B2CC-C384-48C4-9EE1-F82179E39171}" destId="{F041B481-B4FC-4140-87CC-3632DA6A54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DFA2DD-8B07-4B64-B098-F0D01E28CAD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376E24-150C-49C0-931C-5A2CE17106E4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1. Data Preprocessing &amp; Cleaning.</a:t>
          </a:r>
        </a:p>
      </dgm:t>
    </dgm:pt>
    <dgm:pt modelId="{7EEE0BB3-19F5-471F-955D-A67D8F4D5E43}" type="parTrans" cxnId="{E510CDAF-0235-4E29-B078-3822640CC13D}">
      <dgm:prSet/>
      <dgm:spPr/>
      <dgm:t>
        <a:bodyPr/>
        <a:lstStyle/>
        <a:p>
          <a:endParaRPr lang="en-US"/>
        </a:p>
      </dgm:t>
    </dgm:pt>
    <dgm:pt modelId="{0C787144-3C0B-42DB-9F66-A094BD172CB0}" type="sibTrans" cxnId="{E510CDAF-0235-4E29-B078-3822640CC13D}">
      <dgm:prSet/>
      <dgm:spPr/>
      <dgm:t>
        <a:bodyPr/>
        <a:lstStyle/>
        <a:p>
          <a:endParaRPr lang="en-US"/>
        </a:p>
      </dgm:t>
    </dgm:pt>
    <dgm:pt modelId="{A23F93EF-0666-4E92-BB3B-39113734A4CD}">
      <dgm:prSet/>
      <dgm:spPr/>
      <dgm:t>
        <a:bodyPr/>
        <a:lstStyle/>
        <a:p>
          <a:r>
            <a:rPr lang="en-US" dirty="0"/>
            <a:t>2. Semantic Embedding Generation.</a:t>
          </a:r>
        </a:p>
      </dgm:t>
    </dgm:pt>
    <dgm:pt modelId="{F44133C9-08EB-4ABE-A437-A4DC921BC48F}" type="parTrans" cxnId="{6C9DC4E0-633F-43EE-9ECB-E9214CFD6736}">
      <dgm:prSet/>
      <dgm:spPr/>
      <dgm:t>
        <a:bodyPr/>
        <a:lstStyle/>
        <a:p>
          <a:endParaRPr lang="en-US"/>
        </a:p>
      </dgm:t>
    </dgm:pt>
    <dgm:pt modelId="{347E3988-3EB1-45FC-9F7C-ECE80328C664}" type="sibTrans" cxnId="{6C9DC4E0-633F-43EE-9ECB-E9214CFD6736}">
      <dgm:prSet/>
      <dgm:spPr/>
      <dgm:t>
        <a:bodyPr/>
        <a:lstStyle/>
        <a:p>
          <a:endParaRPr lang="en-US"/>
        </a:p>
      </dgm:t>
    </dgm:pt>
    <dgm:pt modelId="{AE3CFA20-8798-444F-8B82-70756B821D4F}">
      <dgm:prSet/>
      <dgm:spPr/>
      <dgm:t>
        <a:bodyPr/>
        <a:lstStyle/>
        <a:p>
          <a:r>
            <a:rPr lang="en-US" dirty="0"/>
            <a:t>5. Sentiment &amp; Impact Analysis.</a:t>
          </a:r>
        </a:p>
      </dgm:t>
    </dgm:pt>
    <dgm:pt modelId="{9C609CE9-F904-4AB7-B258-46649A39681A}" type="parTrans" cxnId="{C0D3220D-6DDD-4F42-9D32-DA9B4C89B3DC}">
      <dgm:prSet/>
      <dgm:spPr/>
      <dgm:t>
        <a:bodyPr/>
        <a:lstStyle/>
        <a:p>
          <a:endParaRPr lang="en-US"/>
        </a:p>
      </dgm:t>
    </dgm:pt>
    <dgm:pt modelId="{B6B60E79-9982-42EE-871E-42C4951F6E7F}" type="sibTrans" cxnId="{C0D3220D-6DDD-4F42-9D32-DA9B4C89B3DC}">
      <dgm:prSet/>
      <dgm:spPr/>
      <dgm:t>
        <a:bodyPr/>
        <a:lstStyle/>
        <a:p>
          <a:endParaRPr lang="en-US"/>
        </a:p>
      </dgm:t>
    </dgm:pt>
    <dgm:pt modelId="{046763D6-D35F-4672-B816-152B5B0B7025}">
      <dgm:prSet/>
      <dgm:spPr/>
      <dgm:t>
        <a:bodyPr/>
        <a:lstStyle/>
        <a:p>
          <a:r>
            <a:rPr lang="en-US" dirty="0"/>
            <a:t>6. Actionable Insight Generation via LLM.</a:t>
          </a:r>
        </a:p>
      </dgm:t>
    </dgm:pt>
    <dgm:pt modelId="{321D8783-7FC3-4132-AC15-C2518B253EC7}" type="parTrans" cxnId="{0F452E6D-98BB-46FD-9EEC-0D4F36BBE22A}">
      <dgm:prSet/>
      <dgm:spPr/>
      <dgm:t>
        <a:bodyPr/>
        <a:lstStyle/>
        <a:p>
          <a:endParaRPr lang="en-US"/>
        </a:p>
      </dgm:t>
    </dgm:pt>
    <dgm:pt modelId="{8360DD42-58AE-4DFD-9E7B-71D6A59F5376}" type="sibTrans" cxnId="{0F452E6D-98BB-46FD-9EEC-0D4F36BBE22A}">
      <dgm:prSet/>
      <dgm:spPr/>
      <dgm:t>
        <a:bodyPr/>
        <a:lstStyle/>
        <a:p>
          <a:endParaRPr lang="en-US"/>
        </a:p>
      </dgm:t>
    </dgm:pt>
    <dgm:pt modelId="{219D005B-213F-483E-B6FF-44F7A71F8D19}">
      <dgm:prSet/>
      <dgm:spPr/>
      <dgm:t>
        <a:bodyPr/>
        <a:lstStyle/>
        <a:p>
          <a:r>
            <a:rPr lang="en-US" dirty="0"/>
            <a:t>3. Clustering</a:t>
          </a:r>
        </a:p>
      </dgm:t>
    </dgm:pt>
    <dgm:pt modelId="{1B7C5CCF-D8D9-45F5-B99D-DF0E811AB29A}" type="parTrans" cxnId="{E5D8A610-4AFF-4DC4-92E0-6A3DDF5A4AE4}">
      <dgm:prSet/>
      <dgm:spPr/>
      <dgm:t>
        <a:bodyPr/>
        <a:lstStyle/>
        <a:p>
          <a:endParaRPr lang="en-US"/>
        </a:p>
      </dgm:t>
    </dgm:pt>
    <dgm:pt modelId="{328CB4C5-5CF6-4796-9E94-7FFD341C27C2}" type="sibTrans" cxnId="{E5D8A610-4AFF-4DC4-92E0-6A3DDF5A4AE4}">
      <dgm:prSet/>
      <dgm:spPr/>
      <dgm:t>
        <a:bodyPr/>
        <a:lstStyle/>
        <a:p>
          <a:endParaRPr lang="en-US"/>
        </a:p>
      </dgm:t>
    </dgm:pt>
    <dgm:pt modelId="{D5CAA9D8-2D8C-464E-8D8D-3C5C028D3CA5}">
      <dgm:prSet/>
      <dgm:spPr/>
      <dgm:t>
        <a:bodyPr/>
        <a:lstStyle/>
        <a:p>
          <a:r>
            <a:rPr lang="en-US" dirty="0"/>
            <a:t>4. Automated Cluster Naming</a:t>
          </a:r>
        </a:p>
      </dgm:t>
    </dgm:pt>
    <dgm:pt modelId="{936E0963-252A-46A9-BE39-A048B4757FF3}" type="parTrans" cxnId="{E574BB7B-DAB0-478C-9647-51F9287B50D6}">
      <dgm:prSet/>
      <dgm:spPr/>
      <dgm:t>
        <a:bodyPr/>
        <a:lstStyle/>
        <a:p>
          <a:endParaRPr lang="en-US"/>
        </a:p>
      </dgm:t>
    </dgm:pt>
    <dgm:pt modelId="{96D06049-A233-4711-B619-88F4E88E6C07}" type="sibTrans" cxnId="{E574BB7B-DAB0-478C-9647-51F9287B50D6}">
      <dgm:prSet/>
      <dgm:spPr/>
      <dgm:t>
        <a:bodyPr/>
        <a:lstStyle/>
        <a:p>
          <a:endParaRPr lang="en-US"/>
        </a:p>
      </dgm:t>
    </dgm:pt>
    <dgm:pt modelId="{0CF3B2CC-C384-48C4-9EE1-F82179E39171}" type="pres">
      <dgm:prSet presAssocID="{8DDFA2DD-8B07-4B64-B098-F0D01E28CADD}" presName="linear" presStyleCnt="0">
        <dgm:presLayoutVars>
          <dgm:animLvl val="lvl"/>
          <dgm:resizeHandles val="exact"/>
        </dgm:presLayoutVars>
      </dgm:prSet>
      <dgm:spPr/>
    </dgm:pt>
    <dgm:pt modelId="{CF722728-6AE5-40A2-8AEB-AB2D9F7625EB}" type="pres">
      <dgm:prSet presAssocID="{E9376E24-150C-49C0-931C-5A2CE17106E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598004F-152F-4575-B2DA-D35E71CDF831}" type="pres">
      <dgm:prSet presAssocID="{0C787144-3C0B-42DB-9F66-A094BD172CB0}" presName="spacer" presStyleCnt="0"/>
      <dgm:spPr/>
    </dgm:pt>
    <dgm:pt modelId="{8DD488D4-3260-4957-9507-649F5B5FA7D3}" type="pres">
      <dgm:prSet presAssocID="{A23F93EF-0666-4E92-BB3B-39113734A4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1D07F3-6493-4065-8867-D6568F653C66}" type="pres">
      <dgm:prSet presAssocID="{347E3988-3EB1-45FC-9F7C-ECE80328C664}" presName="spacer" presStyleCnt="0"/>
      <dgm:spPr/>
    </dgm:pt>
    <dgm:pt modelId="{08E6851F-D657-44FE-81C8-0D6158A90127}" type="pres">
      <dgm:prSet presAssocID="{219D005B-213F-483E-B6FF-44F7A71F8D1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8B6FE3C-A781-458D-8879-7B39A9AFF782}" type="pres">
      <dgm:prSet presAssocID="{328CB4C5-5CF6-4796-9E94-7FFD341C27C2}" presName="spacer" presStyleCnt="0"/>
      <dgm:spPr/>
    </dgm:pt>
    <dgm:pt modelId="{3CC65C28-1291-482E-BCCE-767933662517}" type="pres">
      <dgm:prSet presAssocID="{D5CAA9D8-2D8C-464E-8D8D-3C5C028D3CA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61E264-349B-4B58-BC35-6D0C9D5FFEC2}" type="pres">
      <dgm:prSet presAssocID="{96D06049-A233-4711-B619-88F4E88E6C07}" presName="spacer" presStyleCnt="0"/>
      <dgm:spPr/>
    </dgm:pt>
    <dgm:pt modelId="{F8D8BE82-402D-4EB6-BDD1-BBDD2E3F49D8}" type="pres">
      <dgm:prSet presAssocID="{AE3CFA20-8798-444F-8B82-70756B821D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2ADC6A-44BF-4B8C-AC09-FE0D224D587A}" type="pres">
      <dgm:prSet presAssocID="{B6B60E79-9982-42EE-871E-42C4951F6E7F}" presName="spacer" presStyleCnt="0"/>
      <dgm:spPr/>
    </dgm:pt>
    <dgm:pt modelId="{F041B481-B4FC-4140-87CC-3632DA6A54C2}" type="pres">
      <dgm:prSet presAssocID="{046763D6-D35F-4672-B816-152B5B0B70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3E0A03-4A94-4546-83B7-C98A86A65119}" type="presOf" srcId="{E9376E24-150C-49C0-931C-5A2CE17106E4}" destId="{CF722728-6AE5-40A2-8AEB-AB2D9F7625EB}" srcOrd="0" destOrd="0" presId="urn:microsoft.com/office/officeart/2005/8/layout/vList2"/>
    <dgm:cxn modelId="{4922B709-FF13-4B90-8D8A-175ADFCB6A4D}" type="presOf" srcId="{D5CAA9D8-2D8C-464E-8D8D-3C5C028D3CA5}" destId="{3CC65C28-1291-482E-BCCE-767933662517}" srcOrd="0" destOrd="0" presId="urn:microsoft.com/office/officeart/2005/8/layout/vList2"/>
    <dgm:cxn modelId="{C0D3220D-6DDD-4F42-9D32-DA9B4C89B3DC}" srcId="{8DDFA2DD-8B07-4B64-B098-F0D01E28CADD}" destId="{AE3CFA20-8798-444F-8B82-70756B821D4F}" srcOrd="4" destOrd="0" parTransId="{9C609CE9-F904-4AB7-B258-46649A39681A}" sibTransId="{B6B60E79-9982-42EE-871E-42C4951F6E7F}"/>
    <dgm:cxn modelId="{E5D8A610-4AFF-4DC4-92E0-6A3DDF5A4AE4}" srcId="{8DDFA2DD-8B07-4B64-B098-F0D01E28CADD}" destId="{219D005B-213F-483E-B6FF-44F7A71F8D19}" srcOrd="2" destOrd="0" parTransId="{1B7C5CCF-D8D9-45F5-B99D-DF0E811AB29A}" sibTransId="{328CB4C5-5CF6-4796-9E94-7FFD341C27C2}"/>
    <dgm:cxn modelId="{0F452E6D-98BB-46FD-9EEC-0D4F36BBE22A}" srcId="{8DDFA2DD-8B07-4B64-B098-F0D01E28CADD}" destId="{046763D6-D35F-4672-B816-152B5B0B7025}" srcOrd="5" destOrd="0" parTransId="{321D8783-7FC3-4132-AC15-C2518B253EC7}" sibTransId="{8360DD42-58AE-4DFD-9E7B-71D6A59F5376}"/>
    <dgm:cxn modelId="{F540E157-822B-4A8D-8DFB-0C537F1B6761}" type="presOf" srcId="{046763D6-D35F-4672-B816-152B5B0B7025}" destId="{F041B481-B4FC-4140-87CC-3632DA6A54C2}" srcOrd="0" destOrd="0" presId="urn:microsoft.com/office/officeart/2005/8/layout/vList2"/>
    <dgm:cxn modelId="{E574BB7B-DAB0-478C-9647-51F9287B50D6}" srcId="{8DDFA2DD-8B07-4B64-B098-F0D01E28CADD}" destId="{D5CAA9D8-2D8C-464E-8D8D-3C5C028D3CA5}" srcOrd="3" destOrd="0" parTransId="{936E0963-252A-46A9-BE39-A048B4757FF3}" sibTransId="{96D06049-A233-4711-B619-88F4E88E6C07}"/>
    <dgm:cxn modelId="{3CB1589D-298C-424C-A614-B18D9EAA1087}" type="presOf" srcId="{8DDFA2DD-8B07-4B64-B098-F0D01E28CADD}" destId="{0CF3B2CC-C384-48C4-9EE1-F82179E39171}" srcOrd="0" destOrd="0" presId="urn:microsoft.com/office/officeart/2005/8/layout/vList2"/>
    <dgm:cxn modelId="{6D95FAA4-BCAD-4255-9CA8-4A99A8E8B78D}" type="presOf" srcId="{A23F93EF-0666-4E92-BB3B-39113734A4CD}" destId="{8DD488D4-3260-4957-9507-649F5B5FA7D3}" srcOrd="0" destOrd="0" presId="urn:microsoft.com/office/officeart/2005/8/layout/vList2"/>
    <dgm:cxn modelId="{E510CDAF-0235-4E29-B078-3822640CC13D}" srcId="{8DDFA2DD-8B07-4B64-B098-F0D01E28CADD}" destId="{E9376E24-150C-49C0-931C-5A2CE17106E4}" srcOrd="0" destOrd="0" parTransId="{7EEE0BB3-19F5-471F-955D-A67D8F4D5E43}" sibTransId="{0C787144-3C0B-42DB-9F66-A094BD172CB0}"/>
    <dgm:cxn modelId="{97D4D9D0-C3C7-47F6-A97F-CC512944D949}" type="presOf" srcId="{219D005B-213F-483E-B6FF-44F7A71F8D19}" destId="{08E6851F-D657-44FE-81C8-0D6158A90127}" srcOrd="0" destOrd="0" presId="urn:microsoft.com/office/officeart/2005/8/layout/vList2"/>
    <dgm:cxn modelId="{137ED9D9-FDDA-48BE-91D9-F594B03198D0}" type="presOf" srcId="{AE3CFA20-8798-444F-8B82-70756B821D4F}" destId="{F8D8BE82-402D-4EB6-BDD1-BBDD2E3F49D8}" srcOrd="0" destOrd="0" presId="urn:microsoft.com/office/officeart/2005/8/layout/vList2"/>
    <dgm:cxn modelId="{6C9DC4E0-633F-43EE-9ECB-E9214CFD6736}" srcId="{8DDFA2DD-8B07-4B64-B098-F0D01E28CADD}" destId="{A23F93EF-0666-4E92-BB3B-39113734A4CD}" srcOrd="1" destOrd="0" parTransId="{F44133C9-08EB-4ABE-A437-A4DC921BC48F}" sibTransId="{347E3988-3EB1-45FC-9F7C-ECE80328C664}"/>
    <dgm:cxn modelId="{9D0C6051-B3E7-439A-8098-A5582FD12C35}" type="presParOf" srcId="{0CF3B2CC-C384-48C4-9EE1-F82179E39171}" destId="{CF722728-6AE5-40A2-8AEB-AB2D9F7625EB}" srcOrd="0" destOrd="0" presId="urn:microsoft.com/office/officeart/2005/8/layout/vList2"/>
    <dgm:cxn modelId="{D09BF931-46BF-489A-953E-495E95E3D2AD}" type="presParOf" srcId="{0CF3B2CC-C384-48C4-9EE1-F82179E39171}" destId="{9598004F-152F-4575-B2DA-D35E71CDF831}" srcOrd="1" destOrd="0" presId="urn:microsoft.com/office/officeart/2005/8/layout/vList2"/>
    <dgm:cxn modelId="{DB4F487A-D48B-45E5-8FD4-F88F9F1BC4CC}" type="presParOf" srcId="{0CF3B2CC-C384-48C4-9EE1-F82179E39171}" destId="{8DD488D4-3260-4957-9507-649F5B5FA7D3}" srcOrd="2" destOrd="0" presId="urn:microsoft.com/office/officeart/2005/8/layout/vList2"/>
    <dgm:cxn modelId="{B9E7D10F-2AA0-4104-B9A6-677ECFF5EAC8}" type="presParOf" srcId="{0CF3B2CC-C384-48C4-9EE1-F82179E39171}" destId="{9B1D07F3-6493-4065-8867-D6568F653C66}" srcOrd="3" destOrd="0" presId="urn:microsoft.com/office/officeart/2005/8/layout/vList2"/>
    <dgm:cxn modelId="{075BA0A1-F321-404D-8A27-BCAEB87E3C06}" type="presParOf" srcId="{0CF3B2CC-C384-48C4-9EE1-F82179E39171}" destId="{08E6851F-D657-44FE-81C8-0D6158A90127}" srcOrd="4" destOrd="0" presId="urn:microsoft.com/office/officeart/2005/8/layout/vList2"/>
    <dgm:cxn modelId="{3BD5454C-FFBA-4D62-9FA7-C3D8EC19D1CF}" type="presParOf" srcId="{0CF3B2CC-C384-48C4-9EE1-F82179E39171}" destId="{68B6FE3C-A781-458D-8879-7B39A9AFF782}" srcOrd="5" destOrd="0" presId="urn:microsoft.com/office/officeart/2005/8/layout/vList2"/>
    <dgm:cxn modelId="{40E87A1A-2E85-4ED7-B164-95F3EDA376F1}" type="presParOf" srcId="{0CF3B2CC-C384-48C4-9EE1-F82179E39171}" destId="{3CC65C28-1291-482E-BCCE-767933662517}" srcOrd="6" destOrd="0" presId="urn:microsoft.com/office/officeart/2005/8/layout/vList2"/>
    <dgm:cxn modelId="{36BB1C78-4E8E-4D7E-A182-0A44EDBBC016}" type="presParOf" srcId="{0CF3B2CC-C384-48C4-9EE1-F82179E39171}" destId="{1961E264-349B-4B58-BC35-6D0C9D5FFEC2}" srcOrd="7" destOrd="0" presId="urn:microsoft.com/office/officeart/2005/8/layout/vList2"/>
    <dgm:cxn modelId="{FDADBCBF-F927-4C7F-B515-03254930D6BF}" type="presParOf" srcId="{0CF3B2CC-C384-48C4-9EE1-F82179E39171}" destId="{F8D8BE82-402D-4EB6-BDD1-BBDD2E3F49D8}" srcOrd="8" destOrd="0" presId="urn:microsoft.com/office/officeart/2005/8/layout/vList2"/>
    <dgm:cxn modelId="{C1D78493-5000-46C7-8A3B-B25504CF21E0}" type="presParOf" srcId="{0CF3B2CC-C384-48C4-9EE1-F82179E39171}" destId="{6C2ADC6A-44BF-4B8C-AC09-FE0D224D587A}" srcOrd="9" destOrd="0" presId="urn:microsoft.com/office/officeart/2005/8/layout/vList2"/>
    <dgm:cxn modelId="{9AEF5C76-D1E9-4501-AC06-49298E1D10D2}" type="presParOf" srcId="{0CF3B2CC-C384-48C4-9EE1-F82179E39171}" destId="{F041B481-B4FC-4140-87CC-3632DA6A54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DFA2DD-8B07-4B64-B098-F0D01E28CAD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376E24-150C-49C0-931C-5A2CE17106E4}">
      <dgm:prSet/>
      <dgm:spPr/>
      <dgm:t>
        <a:bodyPr/>
        <a:lstStyle/>
        <a:p>
          <a:r>
            <a:rPr lang="en-US" dirty="0"/>
            <a:t>1. Data Preprocessing &amp; Cleaning.</a:t>
          </a:r>
        </a:p>
      </dgm:t>
    </dgm:pt>
    <dgm:pt modelId="{7EEE0BB3-19F5-471F-955D-A67D8F4D5E43}" type="parTrans" cxnId="{E510CDAF-0235-4E29-B078-3822640CC13D}">
      <dgm:prSet/>
      <dgm:spPr/>
      <dgm:t>
        <a:bodyPr/>
        <a:lstStyle/>
        <a:p>
          <a:endParaRPr lang="en-US"/>
        </a:p>
      </dgm:t>
    </dgm:pt>
    <dgm:pt modelId="{0C787144-3C0B-42DB-9F66-A094BD172CB0}" type="sibTrans" cxnId="{E510CDAF-0235-4E29-B078-3822640CC13D}">
      <dgm:prSet/>
      <dgm:spPr/>
      <dgm:t>
        <a:bodyPr/>
        <a:lstStyle/>
        <a:p>
          <a:endParaRPr lang="en-US"/>
        </a:p>
      </dgm:t>
    </dgm:pt>
    <dgm:pt modelId="{A23F93EF-0666-4E92-BB3B-39113734A4CD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2. Semantic Embedding Generation.</a:t>
          </a:r>
        </a:p>
      </dgm:t>
    </dgm:pt>
    <dgm:pt modelId="{F44133C9-08EB-4ABE-A437-A4DC921BC48F}" type="parTrans" cxnId="{6C9DC4E0-633F-43EE-9ECB-E9214CFD6736}">
      <dgm:prSet/>
      <dgm:spPr/>
      <dgm:t>
        <a:bodyPr/>
        <a:lstStyle/>
        <a:p>
          <a:endParaRPr lang="en-US"/>
        </a:p>
      </dgm:t>
    </dgm:pt>
    <dgm:pt modelId="{347E3988-3EB1-45FC-9F7C-ECE80328C664}" type="sibTrans" cxnId="{6C9DC4E0-633F-43EE-9ECB-E9214CFD6736}">
      <dgm:prSet/>
      <dgm:spPr/>
      <dgm:t>
        <a:bodyPr/>
        <a:lstStyle/>
        <a:p>
          <a:endParaRPr lang="en-US"/>
        </a:p>
      </dgm:t>
    </dgm:pt>
    <dgm:pt modelId="{AE3CFA20-8798-444F-8B82-70756B821D4F}">
      <dgm:prSet/>
      <dgm:spPr/>
      <dgm:t>
        <a:bodyPr/>
        <a:lstStyle/>
        <a:p>
          <a:r>
            <a:rPr lang="en-US" dirty="0"/>
            <a:t>5. Sentiment &amp; Impact Analysis.</a:t>
          </a:r>
        </a:p>
      </dgm:t>
    </dgm:pt>
    <dgm:pt modelId="{9C609CE9-F904-4AB7-B258-46649A39681A}" type="parTrans" cxnId="{C0D3220D-6DDD-4F42-9D32-DA9B4C89B3DC}">
      <dgm:prSet/>
      <dgm:spPr/>
      <dgm:t>
        <a:bodyPr/>
        <a:lstStyle/>
        <a:p>
          <a:endParaRPr lang="en-US"/>
        </a:p>
      </dgm:t>
    </dgm:pt>
    <dgm:pt modelId="{B6B60E79-9982-42EE-871E-42C4951F6E7F}" type="sibTrans" cxnId="{C0D3220D-6DDD-4F42-9D32-DA9B4C89B3DC}">
      <dgm:prSet/>
      <dgm:spPr/>
      <dgm:t>
        <a:bodyPr/>
        <a:lstStyle/>
        <a:p>
          <a:endParaRPr lang="en-US"/>
        </a:p>
      </dgm:t>
    </dgm:pt>
    <dgm:pt modelId="{046763D6-D35F-4672-B816-152B5B0B7025}">
      <dgm:prSet/>
      <dgm:spPr/>
      <dgm:t>
        <a:bodyPr/>
        <a:lstStyle/>
        <a:p>
          <a:r>
            <a:rPr lang="en-US" dirty="0"/>
            <a:t>6. Actionable Insight Generation via LLM.</a:t>
          </a:r>
        </a:p>
      </dgm:t>
    </dgm:pt>
    <dgm:pt modelId="{321D8783-7FC3-4132-AC15-C2518B253EC7}" type="parTrans" cxnId="{0F452E6D-98BB-46FD-9EEC-0D4F36BBE22A}">
      <dgm:prSet/>
      <dgm:spPr/>
      <dgm:t>
        <a:bodyPr/>
        <a:lstStyle/>
        <a:p>
          <a:endParaRPr lang="en-US"/>
        </a:p>
      </dgm:t>
    </dgm:pt>
    <dgm:pt modelId="{8360DD42-58AE-4DFD-9E7B-71D6A59F5376}" type="sibTrans" cxnId="{0F452E6D-98BB-46FD-9EEC-0D4F36BBE22A}">
      <dgm:prSet/>
      <dgm:spPr/>
      <dgm:t>
        <a:bodyPr/>
        <a:lstStyle/>
        <a:p>
          <a:endParaRPr lang="en-US"/>
        </a:p>
      </dgm:t>
    </dgm:pt>
    <dgm:pt modelId="{219D005B-213F-483E-B6FF-44F7A71F8D19}">
      <dgm:prSet/>
      <dgm:spPr/>
      <dgm:t>
        <a:bodyPr/>
        <a:lstStyle/>
        <a:p>
          <a:r>
            <a:rPr lang="en-US" dirty="0"/>
            <a:t>3. Clustering.</a:t>
          </a:r>
        </a:p>
      </dgm:t>
    </dgm:pt>
    <dgm:pt modelId="{1B7C5CCF-D8D9-45F5-B99D-DF0E811AB29A}" type="parTrans" cxnId="{E5D8A610-4AFF-4DC4-92E0-6A3DDF5A4AE4}">
      <dgm:prSet/>
      <dgm:spPr/>
      <dgm:t>
        <a:bodyPr/>
        <a:lstStyle/>
        <a:p>
          <a:endParaRPr lang="en-US"/>
        </a:p>
      </dgm:t>
    </dgm:pt>
    <dgm:pt modelId="{328CB4C5-5CF6-4796-9E94-7FFD341C27C2}" type="sibTrans" cxnId="{E5D8A610-4AFF-4DC4-92E0-6A3DDF5A4AE4}">
      <dgm:prSet/>
      <dgm:spPr/>
      <dgm:t>
        <a:bodyPr/>
        <a:lstStyle/>
        <a:p>
          <a:endParaRPr lang="en-US"/>
        </a:p>
      </dgm:t>
    </dgm:pt>
    <dgm:pt modelId="{D5CAA9D8-2D8C-464E-8D8D-3C5C028D3CA5}">
      <dgm:prSet/>
      <dgm:spPr/>
      <dgm:t>
        <a:bodyPr/>
        <a:lstStyle/>
        <a:p>
          <a:r>
            <a:rPr lang="en-US" dirty="0"/>
            <a:t>4. Automated Cluster Naming.</a:t>
          </a:r>
        </a:p>
      </dgm:t>
    </dgm:pt>
    <dgm:pt modelId="{936E0963-252A-46A9-BE39-A048B4757FF3}" type="parTrans" cxnId="{E574BB7B-DAB0-478C-9647-51F9287B50D6}">
      <dgm:prSet/>
      <dgm:spPr/>
      <dgm:t>
        <a:bodyPr/>
        <a:lstStyle/>
        <a:p>
          <a:endParaRPr lang="en-US"/>
        </a:p>
      </dgm:t>
    </dgm:pt>
    <dgm:pt modelId="{96D06049-A233-4711-B619-88F4E88E6C07}" type="sibTrans" cxnId="{E574BB7B-DAB0-478C-9647-51F9287B50D6}">
      <dgm:prSet/>
      <dgm:spPr/>
      <dgm:t>
        <a:bodyPr/>
        <a:lstStyle/>
        <a:p>
          <a:endParaRPr lang="en-US"/>
        </a:p>
      </dgm:t>
    </dgm:pt>
    <dgm:pt modelId="{0CF3B2CC-C384-48C4-9EE1-F82179E39171}" type="pres">
      <dgm:prSet presAssocID="{8DDFA2DD-8B07-4B64-B098-F0D01E28CADD}" presName="linear" presStyleCnt="0">
        <dgm:presLayoutVars>
          <dgm:animLvl val="lvl"/>
          <dgm:resizeHandles val="exact"/>
        </dgm:presLayoutVars>
      </dgm:prSet>
      <dgm:spPr/>
    </dgm:pt>
    <dgm:pt modelId="{CF722728-6AE5-40A2-8AEB-AB2D9F7625EB}" type="pres">
      <dgm:prSet presAssocID="{E9376E24-150C-49C0-931C-5A2CE17106E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598004F-152F-4575-B2DA-D35E71CDF831}" type="pres">
      <dgm:prSet presAssocID="{0C787144-3C0B-42DB-9F66-A094BD172CB0}" presName="spacer" presStyleCnt="0"/>
      <dgm:spPr/>
    </dgm:pt>
    <dgm:pt modelId="{8DD488D4-3260-4957-9507-649F5B5FA7D3}" type="pres">
      <dgm:prSet presAssocID="{A23F93EF-0666-4E92-BB3B-39113734A4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1D07F3-6493-4065-8867-D6568F653C66}" type="pres">
      <dgm:prSet presAssocID="{347E3988-3EB1-45FC-9F7C-ECE80328C664}" presName="spacer" presStyleCnt="0"/>
      <dgm:spPr/>
    </dgm:pt>
    <dgm:pt modelId="{08E6851F-D657-44FE-81C8-0D6158A90127}" type="pres">
      <dgm:prSet presAssocID="{219D005B-213F-483E-B6FF-44F7A71F8D1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8B6FE3C-A781-458D-8879-7B39A9AFF782}" type="pres">
      <dgm:prSet presAssocID="{328CB4C5-5CF6-4796-9E94-7FFD341C27C2}" presName="spacer" presStyleCnt="0"/>
      <dgm:spPr/>
    </dgm:pt>
    <dgm:pt modelId="{3CC65C28-1291-482E-BCCE-767933662517}" type="pres">
      <dgm:prSet presAssocID="{D5CAA9D8-2D8C-464E-8D8D-3C5C028D3CA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61E264-349B-4B58-BC35-6D0C9D5FFEC2}" type="pres">
      <dgm:prSet presAssocID="{96D06049-A233-4711-B619-88F4E88E6C07}" presName="spacer" presStyleCnt="0"/>
      <dgm:spPr/>
    </dgm:pt>
    <dgm:pt modelId="{F8D8BE82-402D-4EB6-BDD1-BBDD2E3F49D8}" type="pres">
      <dgm:prSet presAssocID="{AE3CFA20-8798-444F-8B82-70756B821D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2ADC6A-44BF-4B8C-AC09-FE0D224D587A}" type="pres">
      <dgm:prSet presAssocID="{B6B60E79-9982-42EE-871E-42C4951F6E7F}" presName="spacer" presStyleCnt="0"/>
      <dgm:spPr/>
    </dgm:pt>
    <dgm:pt modelId="{F041B481-B4FC-4140-87CC-3632DA6A54C2}" type="pres">
      <dgm:prSet presAssocID="{046763D6-D35F-4672-B816-152B5B0B70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3E0A03-4A94-4546-83B7-C98A86A65119}" type="presOf" srcId="{E9376E24-150C-49C0-931C-5A2CE17106E4}" destId="{CF722728-6AE5-40A2-8AEB-AB2D9F7625EB}" srcOrd="0" destOrd="0" presId="urn:microsoft.com/office/officeart/2005/8/layout/vList2"/>
    <dgm:cxn modelId="{4922B709-FF13-4B90-8D8A-175ADFCB6A4D}" type="presOf" srcId="{D5CAA9D8-2D8C-464E-8D8D-3C5C028D3CA5}" destId="{3CC65C28-1291-482E-BCCE-767933662517}" srcOrd="0" destOrd="0" presId="urn:microsoft.com/office/officeart/2005/8/layout/vList2"/>
    <dgm:cxn modelId="{C0D3220D-6DDD-4F42-9D32-DA9B4C89B3DC}" srcId="{8DDFA2DD-8B07-4B64-B098-F0D01E28CADD}" destId="{AE3CFA20-8798-444F-8B82-70756B821D4F}" srcOrd="4" destOrd="0" parTransId="{9C609CE9-F904-4AB7-B258-46649A39681A}" sibTransId="{B6B60E79-9982-42EE-871E-42C4951F6E7F}"/>
    <dgm:cxn modelId="{E5D8A610-4AFF-4DC4-92E0-6A3DDF5A4AE4}" srcId="{8DDFA2DD-8B07-4B64-B098-F0D01E28CADD}" destId="{219D005B-213F-483E-B6FF-44F7A71F8D19}" srcOrd="2" destOrd="0" parTransId="{1B7C5CCF-D8D9-45F5-B99D-DF0E811AB29A}" sibTransId="{328CB4C5-5CF6-4796-9E94-7FFD341C27C2}"/>
    <dgm:cxn modelId="{0F452E6D-98BB-46FD-9EEC-0D4F36BBE22A}" srcId="{8DDFA2DD-8B07-4B64-B098-F0D01E28CADD}" destId="{046763D6-D35F-4672-B816-152B5B0B7025}" srcOrd="5" destOrd="0" parTransId="{321D8783-7FC3-4132-AC15-C2518B253EC7}" sibTransId="{8360DD42-58AE-4DFD-9E7B-71D6A59F5376}"/>
    <dgm:cxn modelId="{F540E157-822B-4A8D-8DFB-0C537F1B6761}" type="presOf" srcId="{046763D6-D35F-4672-B816-152B5B0B7025}" destId="{F041B481-B4FC-4140-87CC-3632DA6A54C2}" srcOrd="0" destOrd="0" presId="urn:microsoft.com/office/officeart/2005/8/layout/vList2"/>
    <dgm:cxn modelId="{E574BB7B-DAB0-478C-9647-51F9287B50D6}" srcId="{8DDFA2DD-8B07-4B64-B098-F0D01E28CADD}" destId="{D5CAA9D8-2D8C-464E-8D8D-3C5C028D3CA5}" srcOrd="3" destOrd="0" parTransId="{936E0963-252A-46A9-BE39-A048B4757FF3}" sibTransId="{96D06049-A233-4711-B619-88F4E88E6C07}"/>
    <dgm:cxn modelId="{3CB1589D-298C-424C-A614-B18D9EAA1087}" type="presOf" srcId="{8DDFA2DD-8B07-4B64-B098-F0D01E28CADD}" destId="{0CF3B2CC-C384-48C4-9EE1-F82179E39171}" srcOrd="0" destOrd="0" presId="urn:microsoft.com/office/officeart/2005/8/layout/vList2"/>
    <dgm:cxn modelId="{6D95FAA4-BCAD-4255-9CA8-4A99A8E8B78D}" type="presOf" srcId="{A23F93EF-0666-4E92-BB3B-39113734A4CD}" destId="{8DD488D4-3260-4957-9507-649F5B5FA7D3}" srcOrd="0" destOrd="0" presId="urn:microsoft.com/office/officeart/2005/8/layout/vList2"/>
    <dgm:cxn modelId="{E510CDAF-0235-4E29-B078-3822640CC13D}" srcId="{8DDFA2DD-8B07-4B64-B098-F0D01E28CADD}" destId="{E9376E24-150C-49C0-931C-5A2CE17106E4}" srcOrd="0" destOrd="0" parTransId="{7EEE0BB3-19F5-471F-955D-A67D8F4D5E43}" sibTransId="{0C787144-3C0B-42DB-9F66-A094BD172CB0}"/>
    <dgm:cxn modelId="{97D4D9D0-C3C7-47F6-A97F-CC512944D949}" type="presOf" srcId="{219D005B-213F-483E-B6FF-44F7A71F8D19}" destId="{08E6851F-D657-44FE-81C8-0D6158A90127}" srcOrd="0" destOrd="0" presId="urn:microsoft.com/office/officeart/2005/8/layout/vList2"/>
    <dgm:cxn modelId="{137ED9D9-FDDA-48BE-91D9-F594B03198D0}" type="presOf" srcId="{AE3CFA20-8798-444F-8B82-70756B821D4F}" destId="{F8D8BE82-402D-4EB6-BDD1-BBDD2E3F49D8}" srcOrd="0" destOrd="0" presId="urn:microsoft.com/office/officeart/2005/8/layout/vList2"/>
    <dgm:cxn modelId="{6C9DC4E0-633F-43EE-9ECB-E9214CFD6736}" srcId="{8DDFA2DD-8B07-4B64-B098-F0D01E28CADD}" destId="{A23F93EF-0666-4E92-BB3B-39113734A4CD}" srcOrd="1" destOrd="0" parTransId="{F44133C9-08EB-4ABE-A437-A4DC921BC48F}" sibTransId="{347E3988-3EB1-45FC-9F7C-ECE80328C664}"/>
    <dgm:cxn modelId="{9D0C6051-B3E7-439A-8098-A5582FD12C35}" type="presParOf" srcId="{0CF3B2CC-C384-48C4-9EE1-F82179E39171}" destId="{CF722728-6AE5-40A2-8AEB-AB2D9F7625EB}" srcOrd="0" destOrd="0" presId="urn:microsoft.com/office/officeart/2005/8/layout/vList2"/>
    <dgm:cxn modelId="{D09BF931-46BF-489A-953E-495E95E3D2AD}" type="presParOf" srcId="{0CF3B2CC-C384-48C4-9EE1-F82179E39171}" destId="{9598004F-152F-4575-B2DA-D35E71CDF831}" srcOrd="1" destOrd="0" presId="urn:microsoft.com/office/officeart/2005/8/layout/vList2"/>
    <dgm:cxn modelId="{DB4F487A-D48B-45E5-8FD4-F88F9F1BC4CC}" type="presParOf" srcId="{0CF3B2CC-C384-48C4-9EE1-F82179E39171}" destId="{8DD488D4-3260-4957-9507-649F5B5FA7D3}" srcOrd="2" destOrd="0" presId="urn:microsoft.com/office/officeart/2005/8/layout/vList2"/>
    <dgm:cxn modelId="{B9E7D10F-2AA0-4104-B9A6-677ECFF5EAC8}" type="presParOf" srcId="{0CF3B2CC-C384-48C4-9EE1-F82179E39171}" destId="{9B1D07F3-6493-4065-8867-D6568F653C66}" srcOrd="3" destOrd="0" presId="urn:microsoft.com/office/officeart/2005/8/layout/vList2"/>
    <dgm:cxn modelId="{075BA0A1-F321-404D-8A27-BCAEB87E3C06}" type="presParOf" srcId="{0CF3B2CC-C384-48C4-9EE1-F82179E39171}" destId="{08E6851F-D657-44FE-81C8-0D6158A90127}" srcOrd="4" destOrd="0" presId="urn:microsoft.com/office/officeart/2005/8/layout/vList2"/>
    <dgm:cxn modelId="{3BD5454C-FFBA-4D62-9FA7-C3D8EC19D1CF}" type="presParOf" srcId="{0CF3B2CC-C384-48C4-9EE1-F82179E39171}" destId="{68B6FE3C-A781-458D-8879-7B39A9AFF782}" srcOrd="5" destOrd="0" presId="urn:microsoft.com/office/officeart/2005/8/layout/vList2"/>
    <dgm:cxn modelId="{40E87A1A-2E85-4ED7-B164-95F3EDA376F1}" type="presParOf" srcId="{0CF3B2CC-C384-48C4-9EE1-F82179E39171}" destId="{3CC65C28-1291-482E-BCCE-767933662517}" srcOrd="6" destOrd="0" presId="urn:microsoft.com/office/officeart/2005/8/layout/vList2"/>
    <dgm:cxn modelId="{36BB1C78-4E8E-4D7E-A182-0A44EDBBC016}" type="presParOf" srcId="{0CF3B2CC-C384-48C4-9EE1-F82179E39171}" destId="{1961E264-349B-4B58-BC35-6D0C9D5FFEC2}" srcOrd="7" destOrd="0" presId="urn:microsoft.com/office/officeart/2005/8/layout/vList2"/>
    <dgm:cxn modelId="{FDADBCBF-F927-4C7F-B515-03254930D6BF}" type="presParOf" srcId="{0CF3B2CC-C384-48C4-9EE1-F82179E39171}" destId="{F8D8BE82-402D-4EB6-BDD1-BBDD2E3F49D8}" srcOrd="8" destOrd="0" presId="urn:microsoft.com/office/officeart/2005/8/layout/vList2"/>
    <dgm:cxn modelId="{C1D78493-5000-46C7-8A3B-B25504CF21E0}" type="presParOf" srcId="{0CF3B2CC-C384-48C4-9EE1-F82179E39171}" destId="{6C2ADC6A-44BF-4B8C-AC09-FE0D224D587A}" srcOrd="9" destOrd="0" presId="urn:microsoft.com/office/officeart/2005/8/layout/vList2"/>
    <dgm:cxn modelId="{9AEF5C76-D1E9-4501-AC06-49298E1D10D2}" type="presParOf" srcId="{0CF3B2CC-C384-48C4-9EE1-F82179E39171}" destId="{F041B481-B4FC-4140-87CC-3632DA6A54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DFA2DD-8B07-4B64-B098-F0D01E28CAD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376E24-150C-49C0-931C-5A2CE17106E4}">
      <dgm:prSet/>
      <dgm:spPr/>
      <dgm:t>
        <a:bodyPr/>
        <a:lstStyle/>
        <a:p>
          <a:r>
            <a:rPr lang="en-US" dirty="0"/>
            <a:t>1. Data Preprocessing &amp; Cleaning.</a:t>
          </a:r>
        </a:p>
      </dgm:t>
    </dgm:pt>
    <dgm:pt modelId="{7EEE0BB3-19F5-471F-955D-A67D8F4D5E43}" type="parTrans" cxnId="{E510CDAF-0235-4E29-B078-3822640CC13D}">
      <dgm:prSet/>
      <dgm:spPr/>
      <dgm:t>
        <a:bodyPr/>
        <a:lstStyle/>
        <a:p>
          <a:endParaRPr lang="en-US"/>
        </a:p>
      </dgm:t>
    </dgm:pt>
    <dgm:pt modelId="{0C787144-3C0B-42DB-9F66-A094BD172CB0}" type="sibTrans" cxnId="{E510CDAF-0235-4E29-B078-3822640CC13D}">
      <dgm:prSet/>
      <dgm:spPr/>
      <dgm:t>
        <a:bodyPr/>
        <a:lstStyle/>
        <a:p>
          <a:endParaRPr lang="en-US"/>
        </a:p>
      </dgm:t>
    </dgm:pt>
    <dgm:pt modelId="{A23F93EF-0666-4E92-BB3B-39113734A4CD}">
      <dgm:prSet/>
      <dgm:spPr/>
      <dgm:t>
        <a:bodyPr/>
        <a:lstStyle/>
        <a:p>
          <a:r>
            <a:rPr lang="en-US" dirty="0"/>
            <a:t>2. Semantic Embedding Generation.</a:t>
          </a:r>
        </a:p>
      </dgm:t>
    </dgm:pt>
    <dgm:pt modelId="{F44133C9-08EB-4ABE-A437-A4DC921BC48F}" type="parTrans" cxnId="{6C9DC4E0-633F-43EE-9ECB-E9214CFD6736}">
      <dgm:prSet/>
      <dgm:spPr/>
      <dgm:t>
        <a:bodyPr/>
        <a:lstStyle/>
        <a:p>
          <a:endParaRPr lang="en-US"/>
        </a:p>
      </dgm:t>
    </dgm:pt>
    <dgm:pt modelId="{347E3988-3EB1-45FC-9F7C-ECE80328C664}" type="sibTrans" cxnId="{6C9DC4E0-633F-43EE-9ECB-E9214CFD6736}">
      <dgm:prSet/>
      <dgm:spPr/>
      <dgm:t>
        <a:bodyPr/>
        <a:lstStyle/>
        <a:p>
          <a:endParaRPr lang="en-US"/>
        </a:p>
      </dgm:t>
    </dgm:pt>
    <dgm:pt modelId="{AE3CFA20-8798-444F-8B82-70756B821D4F}">
      <dgm:prSet/>
      <dgm:spPr/>
      <dgm:t>
        <a:bodyPr/>
        <a:lstStyle/>
        <a:p>
          <a:r>
            <a:rPr lang="en-US" dirty="0"/>
            <a:t>5. Sentiment &amp; Impact Analysis.</a:t>
          </a:r>
        </a:p>
      </dgm:t>
    </dgm:pt>
    <dgm:pt modelId="{9C609CE9-F904-4AB7-B258-46649A39681A}" type="parTrans" cxnId="{C0D3220D-6DDD-4F42-9D32-DA9B4C89B3DC}">
      <dgm:prSet/>
      <dgm:spPr/>
      <dgm:t>
        <a:bodyPr/>
        <a:lstStyle/>
        <a:p>
          <a:endParaRPr lang="en-US"/>
        </a:p>
      </dgm:t>
    </dgm:pt>
    <dgm:pt modelId="{B6B60E79-9982-42EE-871E-42C4951F6E7F}" type="sibTrans" cxnId="{C0D3220D-6DDD-4F42-9D32-DA9B4C89B3DC}">
      <dgm:prSet/>
      <dgm:spPr/>
      <dgm:t>
        <a:bodyPr/>
        <a:lstStyle/>
        <a:p>
          <a:endParaRPr lang="en-US"/>
        </a:p>
      </dgm:t>
    </dgm:pt>
    <dgm:pt modelId="{046763D6-D35F-4672-B816-152B5B0B7025}">
      <dgm:prSet/>
      <dgm:spPr/>
      <dgm:t>
        <a:bodyPr/>
        <a:lstStyle/>
        <a:p>
          <a:r>
            <a:rPr lang="en-US" dirty="0"/>
            <a:t>6. Actionable Insight Generation via LLM.</a:t>
          </a:r>
        </a:p>
      </dgm:t>
    </dgm:pt>
    <dgm:pt modelId="{321D8783-7FC3-4132-AC15-C2518B253EC7}" type="parTrans" cxnId="{0F452E6D-98BB-46FD-9EEC-0D4F36BBE22A}">
      <dgm:prSet/>
      <dgm:spPr/>
      <dgm:t>
        <a:bodyPr/>
        <a:lstStyle/>
        <a:p>
          <a:endParaRPr lang="en-US"/>
        </a:p>
      </dgm:t>
    </dgm:pt>
    <dgm:pt modelId="{8360DD42-58AE-4DFD-9E7B-71D6A59F5376}" type="sibTrans" cxnId="{0F452E6D-98BB-46FD-9EEC-0D4F36BBE22A}">
      <dgm:prSet/>
      <dgm:spPr/>
      <dgm:t>
        <a:bodyPr/>
        <a:lstStyle/>
        <a:p>
          <a:endParaRPr lang="en-US"/>
        </a:p>
      </dgm:t>
    </dgm:pt>
    <dgm:pt modelId="{219D005B-213F-483E-B6FF-44F7A71F8D19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3. Clustering</a:t>
          </a:r>
        </a:p>
      </dgm:t>
    </dgm:pt>
    <dgm:pt modelId="{1B7C5CCF-D8D9-45F5-B99D-DF0E811AB29A}" type="parTrans" cxnId="{E5D8A610-4AFF-4DC4-92E0-6A3DDF5A4AE4}">
      <dgm:prSet/>
      <dgm:spPr/>
      <dgm:t>
        <a:bodyPr/>
        <a:lstStyle/>
        <a:p>
          <a:endParaRPr lang="en-US"/>
        </a:p>
      </dgm:t>
    </dgm:pt>
    <dgm:pt modelId="{328CB4C5-5CF6-4796-9E94-7FFD341C27C2}" type="sibTrans" cxnId="{E5D8A610-4AFF-4DC4-92E0-6A3DDF5A4AE4}">
      <dgm:prSet/>
      <dgm:spPr/>
      <dgm:t>
        <a:bodyPr/>
        <a:lstStyle/>
        <a:p>
          <a:endParaRPr lang="en-US"/>
        </a:p>
      </dgm:t>
    </dgm:pt>
    <dgm:pt modelId="{D5CAA9D8-2D8C-464E-8D8D-3C5C028D3CA5}">
      <dgm:prSet/>
      <dgm:spPr/>
      <dgm:t>
        <a:bodyPr/>
        <a:lstStyle/>
        <a:p>
          <a:r>
            <a:rPr lang="en-US" dirty="0"/>
            <a:t>4. Automated Cluster Naming</a:t>
          </a:r>
        </a:p>
      </dgm:t>
    </dgm:pt>
    <dgm:pt modelId="{936E0963-252A-46A9-BE39-A048B4757FF3}" type="parTrans" cxnId="{E574BB7B-DAB0-478C-9647-51F9287B50D6}">
      <dgm:prSet/>
      <dgm:spPr/>
      <dgm:t>
        <a:bodyPr/>
        <a:lstStyle/>
        <a:p>
          <a:endParaRPr lang="en-US"/>
        </a:p>
      </dgm:t>
    </dgm:pt>
    <dgm:pt modelId="{96D06049-A233-4711-B619-88F4E88E6C07}" type="sibTrans" cxnId="{E574BB7B-DAB0-478C-9647-51F9287B50D6}">
      <dgm:prSet/>
      <dgm:spPr/>
      <dgm:t>
        <a:bodyPr/>
        <a:lstStyle/>
        <a:p>
          <a:endParaRPr lang="en-US"/>
        </a:p>
      </dgm:t>
    </dgm:pt>
    <dgm:pt modelId="{0CF3B2CC-C384-48C4-9EE1-F82179E39171}" type="pres">
      <dgm:prSet presAssocID="{8DDFA2DD-8B07-4B64-B098-F0D01E28CADD}" presName="linear" presStyleCnt="0">
        <dgm:presLayoutVars>
          <dgm:animLvl val="lvl"/>
          <dgm:resizeHandles val="exact"/>
        </dgm:presLayoutVars>
      </dgm:prSet>
      <dgm:spPr/>
    </dgm:pt>
    <dgm:pt modelId="{CF722728-6AE5-40A2-8AEB-AB2D9F7625EB}" type="pres">
      <dgm:prSet presAssocID="{E9376E24-150C-49C0-931C-5A2CE17106E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598004F-152F-4575-B2DA-D35E71CDF831}" type="pres">
      <dgm:prSet presAssocID="{0C787144-3C0B-42DB-9F66-A094BD172CB0}" presName="spacer" presStyleCnt="0"/>
      <dgm:spPr/>
    </dgm:pt>
    <dgm:pt modelId="{8DD488D4-3260-4957-9507-649F5B5FA7D3}" type="pres">
      <dgm:prSet presAssocID="{A23F93EF-0666-4E92-BB3B-39113734A4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1D07F3-6493-4065-8867-D6568F653C66}" type="pres">
      <dgm:prSet presAssocID="{347E3988-3EB1-45FC-9F7C-ECE80328C664}" presName="spacer" presStyleCnt="0"/>
      <dgm:spPr/>
    </dgm:pt>
    <dgm:pt modelId="{08E6851F-D657-44FE-81C8-0D6158A90127}" type="pres">
      <dgm:prSet presAssocID="{219D005B-213F-483E-B6FF-44F7A71F8D1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8B6FE3C-A781-458D-8879-7B39A9AFF782}" type="pres">
      <dgm:prSet presAssocID="{328CB4C5-5CF6-4796-9E94-7FFD341C27C2}" presName="spacer" presStyleCnt="0"/>
      <dgm:spPr/>
    </dgm:pt>
    <dgm:pt modelId="{3CC65C28-1291-482E-BCCE-767933662517}" type="pres">
      <dgm:prSet presAssocID="{D5CAA9D8-2D8C-464E-8D8D-3C5C028D3CA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61E264-349B-4B58-BC35-6D0C9D5FFEC2}" type="pres">
      <dgm:prSet presAssocID="{96D06049-A233-4711-B619-88F4E88E6C07}" presName="spacer" presStyleCnt="0"/>
      <dgm:spPr/>
    </dgm:pt>
    <dgm:pt modelId="{F8D8BE82-402D-4EB6-BDD1-BBDD2E3F49D8}" type="pres">
      <dgm:prSet presAssocID="{AE3CFA20-8798-444F-8B82-70756B821D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2ADC6A-44BF-4B8C-AC09-FE0D224D587A}" type="pres">
      <dgm:prSet presAssocID="{B6B60E79-9982-42EE-871E-42C4951F6E7F}" presName="spacer" presStyleCnt="0"/>
      <dgm:spPr/>
    </dgm:pt>
    <dgm:pt modelId="{F041B481-B4FC-4140-87CC-3632DA6A54C2}" type="pres">
      <dgm:prSet presAssocID="{046763D6-D35F-4672-B816-152B5B0B70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3E0A03-4A94-4546-83B7-C98A86A65119}" type="presOf" srcId="{E9376E24-150C-49C0-931C-5A2CE17106E4}" destId="{CF722728-6AE5-40A2-8AEB-AB2D9F7625EB}" srcOrd="0" destOrd="0" presId="urn:microsoft.com/office/officeart/2005/8/layout/vList2"/>
    <dgm:cxn modelId="{4922B709-FF13-4B90-8D8A-175ADFCB6A4D}" type="presOf" srcId="{D5CAA9D8-2D8C-464E-8D8D-3C5C028D3CA5}" destId="{3CC65C28-1291-482E-BCCE-767933662517}" srcOrd="0" destOrd="0" presId="urn:microsoft.com/office/officeart/2005/8/layout/vList2"/>
    <dgm:cxn modelId="{C0D3220D-6DDD-4F42-9D32-DA9B4C89B3DC}" srcId="{8DDFA2DD-8B07-4B64-B098-F0D01E28CADD}" destId="{AE3CFA20-8798-444F-8B82-70756B821D4F}" srcOrd="4" destOrd="0" parTransId="{9C609CE9-F904-4AB7-B258-46649A39681A}" sibTransId="{B6B60E79-9982-42EE-871E-42C4951F6E7F}"/>
    <dgm:cxn modelId="{E5D8A610-4AFF-4DC4-92E0-6A3DDF5A4AE4}" srcId="{8DDFA2DD-8B07-4B64-B098-F0D01E28CADD}" destId="{219D005B-213F-483E-B6FF-44F7A71F8D19}" srcOrd="2" destOrd="0" parTransId="{1B7C5CCF-D8D9-45F5-B99D-DF0E811AB29A}" sibTransId="{328CB4C5-5CF6-4796-9E94-7FFD341C27C2}"/>
    <dgm:cxn modelId="{0F452E6D-98BB-46FD-9EEC-0D4F36BBE22A}" srcId="{8DDFA2DD-8B07-4B64-B098-F0D01E28CADD}" destId="{046763D6-D35F-4672-B816-152B5B0B7025}" srcOrd="5" destOrd="0" parTransId="{321D8783-7FC3-4132-AC15-C2518B253EC7}" sibTransId="{8360DD42-58AE-4DFD-9E7B-71D6A59F5376}"/>
    <dgm:cxn modelId="{F540E157-822B-4A8D-8DFB-0C537F1B6761}" type="presOf" srcId="{046763D6-D35F-4672-B816-152B5B0B7025}" destId="{F041B481-B4FC-4140-87CC-3632DA6A54C2}" srcOrd="0" destOrd="0" presId="urn:microsoft.com/office/officeart/2005/8/layout/vList2"/>
    <dgm:cxn modelId="{E574BB7B-DAB0-478C-9647-51F9287B50D6}" srcId="{8DDFA2DD-8B07-4B64-B098-F0D01E28CADD}" destId="{D5CAA9D8-2D8C-464E-8D8D-3C5C028D3CA5}" srcOrd="3" destOrd="0" parTransId="{936E0963-252A-46A9-BE39-A048B4757FF3}" sibTransId="{96D06049-A233-4711-B619-88F4E88E6C07}"/>
    <dgm:cxn modelId="{3CB1589D-298C-424C-A614-B18D9EAA1087}" type="presOf" srcId="{8DDFA2DD-8B07-4B64-B098-F0D01E28CADD}" destId="{0CF3B2CC-C384-48C4-9EE1-F82179E39171}" srcOrd="0" destOrd="0" presId="urn:microsoft.com/office/officeart/2005/8/layout/vList2"/>
    <dgm:cxn modelId="{6D95FAA4-BCAD-4255-9CA8-4A99A8E8B78D}" type="presOf" srcId="{A23F93EF-0666-4E92-BB3B-39113734A4CD}" destId="{8DD488D4-3260-4957-9507-649F5B5FA7D3}" srcOrd="0" destOrd="0" presId="urn:microsoft.com/office/officeart/2005/8/layout/vList2"/>
    <dgm:cxn modelId="{E510CDAF-0235-4E29-B078-3822640CC13D}" srcId="{8DDFA2DD-8B07-4B64-B098-F0D01E28CADD}" destId="{E9376E24-150C-49C0-931C-5A2CE17106E4}" srcOrd="0" destOrd="0" parTransId="{7EEE0BB3-19F5-471F-955D-A67D8F4D5E43}" sibTransId="{0C787144-3C0B-42DB-9F66-A094BD172CB0}"/>
    <dgm:cxn modelId="{97D4D9D0-C3C7-47F6-A97F-CC512944D949}" type="presOf" srcId="{219D005B-213F-483E-B6FF-44F7A71F8D19}" destId="{08E6851F-D657-44FE-81C8-0D6158A90127}" srcOrd="0" destOrd="0" presId="urn:microsoft.com/office/officeart/2005/8/layout/vList2"/>
    <dgm:cxn modelId="{137ED9D9-FDDA-48BE-91D9-F594B03198D0}" type="presOf" srcId="{AE3CFA20-8798-444F-8B82-70756B821D4F}" destId="{F8D8BE82-402D-4EB6-BDD1-BBDD2E3F49D8}" srcOrd="0" destOrd="0" presId="urn:microsoft.com/office/officeart/2005/8/layout/vList2"/>
    <dgm:cxn modelId="{6C9DC4E0-633F-43EE-9ECB-E9214CFD6736}" srcId="{8DDFA2DD-8B07-4B64-B098-F0D01E28CADD}" destId="{A23F93EF-0666-4E92-BB3B-39113734A4CD}" srcOrd="1" destOrd="0" parTransId="{F44133C9-08EB-4ABE-A437-A4DC921BC48F}" sibTransId="{347E3988-3EB1-45FC-9F7C-ECE80328C664}"/>
    <dgm:cxn modelId="{9D0C6051-B3E7-439A-8098-A5582FD12C35}" type="presParOf" srcId="{0CF3B2CC-C384-48C4-9EE1-F82179E39171}" destId="{CF722728-6AE5-40A2-8AEB-AB2D9F7625EB}" srcOrd="0" destOrd="0" presId="urn:microsoft.com/office/officeart/2005/8/layout/vList2"/>
    <dgm:cxn modelId="{D09BF931-46BF-489A-953E-495E95E3D2AD}" type="presParOf" srcId="{0CF3B2CC-C384-48C4-9EE1-F82179E39171}" destId="{9598004F-152F-4575-B2DA-D35E71CDF831}" srcOrd="1" destOrd="0" presId="urn:microsoft.com/office/officeart/2005/8/layout/vList2"/>
    <dgm:cxn modelId="{DB4F487A-D48B-45E5-8FD4-F88F9F1BC4CC}" type="presParOf" srcId="{0CF3B2CC-C384-48C4-9EE1-F82179E39171}" destId="{8DD488D4-3260-4957-9507-649F5B5FA7D3}" srcOrd="2" destOrd="0" presId="urn:microsoft.com/office/officeart/2005/8/layout/vList2"/>
    <dgm:cxn modelId="{B9E7D10F-2AA0-4104-B9A6-677ECFF5EAC8}" type="presParOf" srcId="{0CF3B2CC-C384-48C4-9EE1-F82179E39171}" destId="{9B1D07F3-6493-4065-8867-D6568F653C66}" srcOrd="3" destOrd="0" presId="urn:microsoft.com/office/officeart/2005/8/layout/vList2"/>
    <dgm:cxn modelId="{075BA0A1-F321-404D-8A27-BCAEB87E3C06}" type="presParOf" srcId="{0CF3B2CC-C384-48C4-9EE1-F82179E39171}" destId="{08E6851F-D657-44FE-81C8-0D6158A90127}" srcOrd="4" destOrd="0" presId="urn:microsoft.com/office/officeart/2005/8/layout/vList2"/>
    <dgm:cxn modelId="{3BD5454C-FFBA-4D62-9FA7-C3D8EC19D1CF}" type="presParOf" srcId="{0CF3B2CC-C384-48C4-9EE1-F82179E39171}" destId="{68B6FE3C-A781-458D-8879-7B39A9AFF782}" srcOrd="5" destOrd="0" presId="urn:microsoft.com/office/officeart/2005/8/layout/vList2"/>
    <dgm:cxn modelId="{40E87A1A-2E85-4ED7-B164-95F3EDA376F1}" type="presParOf" srcId="{0CF3B2CC-C384-48C4-9EE1-F82179E39171}" destId="{3CC65C28-1291-482E-BCCE-767933662517}" srcOrd="6" destOrd="0" presId="urn:microsoft.com/office/officeart/2005/8/layout/vList2"/>
    <dgm:cxn modelId="{36BB1C78-4E8E-4D7E-A182-0A44EDBBC016}" type="presParOf" srcId="{0CF3B2CC-C384-48C4-9EE1-F82179E39171}" destId="{1961E264-349B-4B58-BC35-6D0C9D5FFEC2}" srcOrd="7" destOrd="0" presId="urn:microsoft.com/office/officeart/2005/8/layout/vList2"/>
    <dgm:cxn modelId="{FDADBCBF-F927-4C7F-B515-03254930D6BF}" type="presParOf" srcId="{0CF3B2CC-C384-48C4-9EE1-F82179E39171}" destId="{F8D8BE82-402D-4EB6-BDD1-BBDD2E3F49D8}" srcOrd="8" destOrd="0" presId="urn:microsoft.com/office/officeart/2005/8/layout/vList2"/>
    <dgm:cxn modelId="{C1D78493-5000-46C7-8A3B-B25504CF21E0}" type="presParOf" srcId="{0CF3B2CC-C384-48C4-9EE1-F82179E39171}" destId="{6C2ADC6A-44BF-4B8C-AC09-FE0D224D587A}" srcOrd="9" destOrd="0" presId="urn:microsoft.com/office/officeart/2005/8/layout/vList2"/>
    <dgm:cxn modelId="{9AEF5C76-D1E9-4501-AC06-49298E1D10D2}" type="presParOf" srcId="{0CF3B2CC-C384-48C4-9EE1-F82179E39171}" destId="{F041B481-B4FC-4140-87CC-3632DA6A54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DFA2DD-8B07-4B64-B098-F0D01E28CAD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376E24-150C-49C0-931C-5A2CE17106E4}">
      <dgm:prSet/>
      <dgm:spPr/>
      <dgm:t>
        <a:bodyPr/>
        <a:lstStyle/>
        <a:p>
          <a:r>
            <a:rPr lang="en-US" dirty="0"/>
            <a:t>1. Data Preprocessing &amp; Cleaning.</a:t>
          </a:r>
        </a:p>
      </dgm:t>
    </dgm:pt>
    <dgm:pt modelId="{7EEE0BB3-19F5-471F-955D-A67D8F4D5E43}" type="parTrans" cxnId="{E510CDAF-0235-4E29-B078-3822640CC13D}">
      <dgm:prSet/>
      <dgm:spPr/>
      <dgm:t>
        <a:bodyPr/>
        <a:lstStyle/>
        <a:p>
          <a:endParaRPr lang="en-US"/>
        </a:p>
      </dgm:t>
    </dgm:pt>
    <dgm:pt modelId="{0C787144-3C0B-42DB-9F66-A094BD172CB0}" type="sibTrans" cxnId="{E510CDAF-0235-4E29-B078-3822640CC13D}">
      <dgm:prSet/>
      <dgm:spPr/>
      <dgm:t>
        <a:bodyPr/>
        <a:lstStyle/>
        <a:p>
          <a:endParaRPr lang="en-US"/>
        </a:p>
      </dgm:t>
    </dgm:pt>
    <dgm:pt modelId="{A23F93EF-0666-4E92-BB3B-39113734A4CD}">
      <dgm:prSet/>
      <dgm:spPr/>
      <dgm:t>
        <a:bodyPr/>
        <a:lstStyle/>
        <a:p>
          <a:r>
            <a:rPr lang="en-US" dirty="0"/>
            <a:t>2. Semantic Embedding Generation.</a:t>
          </a:r>
        </a:p>
      </dgm:t>
    </dgm:pt>
    <dgm:pt modelId="{F44133C9-08EB-4ABE-A437-A4DC921BC48F}" type="parTrans" cxnId="{6C9DC4E0-633F-43EE-9ECB-E9214CFD6736}">
      <dgm:prSet/>
      <dgm:spPr/>
      <dgm:t>
        <a:bodyPr/>
        <a:lstStyle/>
        <a:p>
          <a:endParaRPr lang="en-US"/>
        </a:p>
      </dgm:t>
    </dgm:pt>
    <dgm:pt modelId="{347E3988-3EB1-45FC-9F7C-ECE80328C664}" type="sibTrans" cxnId="{6C9DC4E0-633F-43EE-9ECB-E9214CFD6736}">
      <dgm:prSet/>
      <dgm:spPr/>
      <dgm:t>
        <a:bodyPr/>
        <a:lstStyle/>
        <a:p>
          <a:endParaRPr lang="en-US"/>
        </a:p>
      </dgm:t>
    </dgm:pt>
    <dgm:pt modelId="{AE3CFA20-8798-444F-8B82-70756B821D4F}">
      <dgm:prSet/>
      <dgm:spPr/>
      <dgm:t>
        <a:bodyPr/>
        <a:lstStyle/>
        <a:p>
          <a:r>
            <a:rPr lang="en-US" dirty="0"/>
            <a:t>5. Sentiment &amp; Impact Analysis.</a:t>
          </a:r>
        </a:p>
      </dgm:t>
    </dgm:pt>
    <dgm:pt modelId="{9C609CE9-F904-4AB7-B258-46649A39681A}" type="parTrans" cxnId="{C0D3220D-6DDD-4F42-9D32-DA9B4C89B3DC}">
      <dgm:prSet/>
      <dgm:spPr/>
      <dgm:t>
        <a:bodyPr/>
        <a:lstStyle/>
        <a:p>
          <a:endParaRPr lang="en-US"/>
        </a:p>
      </dgm:t>
    </dgm:pt>
    <dgm:pt modelId="{B6B60E79-9982-42EE-871E-42C4951F6E7F}" type="sibTrans" cxnId="{C0D3220D-6DDD-4F42-9D32-DA9B4C89B3DC}">
      <dgm:prSet/>
      <dgm:spPr/>
      <dgm:t>
        <a:bodyPr/>
        <a:lstStyle/>
        <a:p>
          <a:endParaRPr lang="en-US"/>
        </a:p>
      </dgm:t>
    </dgm:pt>
    <dgm:pt modelId="{046763D6-D35F-4672-B816-152B5B0B7025}">
      <dgm:prSet/>
      <dgm:spPr/>
      <dgm:t>
        <a:bodyPr/>
        <a:lstStyle/>
        <a:p>
          <a:r>
            <a:rPr lang="en-US" dirty="0"/>
            <a:t>6. Actionable Insight Generation via LLM.</a:t>
          </a:r>
        </a:p>
      </dgm:t>
    </dgm:pt>
    <dgm:pt modelId="{321D8783-7FC3-4132-AC15-C2518B253EC7}" type="parTrans" cxnId="{0F452E6D-98BB-46FD-9EEC-0D4F36BBE22A}">
      <dgm:prSet/>
      <dgm:spPr/>
      <dgm:t>
        <a:bodyPr/>
        <a:lstStyle/>
        <a:p>
          <a:endParaRPr lang="en-US"/>
        </a:p>
      </dgm:t>
    </dgm:pt>
    <dgm:pt modelId="{8360DD42-58AE-4DFD-9E7B-71D6A59F5376}" type="sibTrans" cxnId="{0F452E6D-98BB-46FD-9EEC-0D4F36BBE22A}">
      <dgm:prSet/>
      <dgm:spPr/>
      <dgm:t>
        <a:bodyPr/>
        <a:lstStyle/>
        <a:p>
          <a:endParaRPr lang="en-US"/>
        </a:p>
      </dgm:t>
    </dgm:pt>
    <dgm:pt modelId="{219D005B-213F-483E-B6FF-44F7A71F8D19}">
      <dgm:prSet/>
      <dgm:spPr/>
      <dgm:t>
        <a:bodyPr/>
        <a:lstStyle/>
        <a:p>
          <a:r>
            <a:rPr lang="en-US" dirty="0"/>
            <a:t>3. Clustering</a:t>
          </a:r>
        </a:p>
      </dgm:t>
    </dgm:pt>
    <dgm:pt modelId="{1B7C5CCF-D8D9-45F5-B99D-DF0E811AB29A}" type="parTrans" cxnId="{E5D8A610-4AFF-4DC4-92E0-6A3DDF5A4AE4}">
      <dgm:prSet/>
      <dgm:spPr/>
      <dgm:t>
        <a:bodyPr/>
        <a:lstStyle/>
        <a:p>
          <a:endParaRPr lang="en-US"/>
        </a:p>
      </dgm:t>
    </dgm:pt>
    <dgm:pt modelId="{328CB4C5-5CF6-4796-9E94-7FFD341C27C2}" type="sibTrans" cxnId="{E5D8A610-4AFF-4DC4-92E0-6A3DDF5A4AE4}">
      <dgm:prSet/>
      <dgm:spPr/>
      <dgm:t>
        <a:bodyPr/>
        <a:lstStyle/>
        <a:p>
          <a:endParaRPr lang="en-US"/>
        </a:p>
      </dgm:t>
    </dgm:pt>
    <dgm:pt modelId="{D5CAA9D8-2D8C-464E-8D8D-3C5C028D3CA5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4. Automated Cluster Naming</a:t>
          </a:r>
        </a:p>
      </dgm:t>
    </dgm:pt>
    <dgm:pt modelId="{936E0963-252A-46A9-BE39-A048B4757FF3}" type="parTrans" cxnId="{E574BB7B-DAB0-478C-9647-51F9287B50D6}">
      <dgm:prSet/>
      <dgm:spPr/>
      <dgm:t>
        <a:bodyPr/>
        <a:lstStyle/>
        <a:p>
          <a:endParaRPr lang="en-US"/>
        </a:p>
      </dgm:t>
    </dgm:pt>
    <dgm:pt modelId="{96D06049-A233-4711-B619-88F4E88E6C07}" type="sibTrans" cxnId="{E574BB7B-DAB0-478C-9647-51F9287B50D6}">
      <dgm:prSet/>
      <dgm:spPr/>
      <dgm:t>
        <a:bodyPr/>
        <a:lstStyle/>
        <a:p>
          <a:endParaRPr lang="en-US"/>
        </a:p>
      </dgm:t>
    </dgm:pt>
    <dgm:pt modelId="{0CF3B2CC-C384-48C4-9EE1-F82179E39171}" type="pres">
      <dgm:prSet presAssocID="{8DDFA2DD-8B07-4B64-B098-F0D01E28CADD}" presName="linear" presStyleCnt="0">
        <dgm:presLayoutVars>
          <dgm:animLvl val="lvl"/>
          <dgm:resizeHandles val="exact"/>
        </dgm:presLayoutVars>
      </dgm:prSet>
      <dgm:spPr/>
    </dgm:pt>
    <dgm:pt modelId="{CF722728-6AE5-40A2-8AEB-AB2D9F7625EB}" type="pres">
      <dgm:prSet presAssocID="{E9376E24-150C-49C0-931C-5A2CE17106E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598004F-152F-4575-B2DA-D35E71CDF831}" type="pres">
      <dgm:prSet presAssocID="{0C787144-3C0B-42DB-9F66-A094BD172CB0}" presName="spacer" presStyleCnt="0"/>
      <dgm:spPr/>
    </dgm:pt>
    <dgm:pt modelId="{8DD488D4-3260-4957-9507-649F5B5FA7D3}" type="pres">
      <dgm:prSet presAssocID="{A23F93EF-0666-4E92-BB3B-39113734A4C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1D07F3-6493-4065-8867-D6568F653C66}" type="pres">
      <dgm:prSet presAssocID="{347E3988-3EB1-45FC-9F7C-ECE80328C664}" presName="spacer" presStyleCnt="0"/>
      <dgm:spPr/>
    </dgm:pt>
    <dgm:pt modelId="{08E6851F-D657-44FE-81C8-0D6158A90127}" type="pres">
      <dgm:prSet presAssocID="{219D005B-213F-483E-B6FF-44F7A71F8D1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8B6FE3C-A781-458D-8879-7B39A9AFF782}" type="pres">
      <dgm:prSet presAssocID="{328CB4C5-5CF6-4796-9E94-7FFD341C27C2}" presName="spacer" presStyleCnt="0"/>
      <dgm:spPr/>
    </dgm:pt>
    <dgm:pt modelId="{3CC65C28-1291-482E-BCCE-767933662517}" type="pres">
      <dgm:prSet presAssocID="{D5CAA9D8-2D8C-464E-8D8D-3C5C028D3CA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61E264-349B-4B58-BC35-6D0C9D5FFEC2}" type="pres">
      <dgm:prSet presAssocID="{96D06049-A233-4711-B619-88F4E88E6C07}" presName="spacer" presStyleCnt="0"/>
      <dgm:spPr/>
    </dgm:pt>
    <dgm:pt modelId="{F8D8BE82-402D-4EB6-BDD1-BBDD2E3F49D8}" type="pres">
      <dgm:prSet presAssocID="{AE3CFA20-8798-444F-8B82-70756B821D4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C2ADC6A-44BF-4B8C-AC09-FE0D224D587A}" type="pres">
      <dgm:prSet presAssocID="{B6B60E79-9982-42EE-871E-42C4951F6E7F}" presName="spacer" presStyleCnt="0"/>
      <dgm:spPr/>
    </dgm:pt>
    <dgm:pt modelId="{F041B481-B4FC-4140-87CC-3632DA6A54C2}" type="pres">
      <dgm:prSet presAssocID="{046763D6-D35F-4672-B816-152B5B0B70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3E0A03-4A94-4546-83B7-C98A86A65119}" type="presOf" srcId="{E9376E24-150C-49C0-931C-5A2CE17106E4}" destId="{CF722728-6AE5-40A2-8AEB-AB2D9F7625EB}" srcOrd="0" destOrd="0" presId="urn:microsoft.com/office/officeart/2005/8/layout/vList2"/>
    <dgm:cxn modelId="{4922B709-FF13-4B90-8D8A-175ADFCB6A4D}" type="presOf" srcId="{D5CAA9D8-2D8C-464E-8D8D-3C5C028D3CA5}" destId="{3CC65C28-1291-482E-BCCE-767933662517}" srcOrd="0" destOrd="0" presId="urn:microsoft.com/office/officeart/2005/8/layout/vList2"/>
    <dgm:cxn modelId="{C0D3220D-6DDD-4F42-9D32-DA9B4C89B3DC}" srcId="{8DDFA2DD-8B07-4B64-B098-F0D01E28CADD}" destId="{AE3CFA20-8798-444F-8B82-70756B821D4F}" srcOrd="4" destOrd="0" parTransId="{9C609CE9-F904-4AB7-B258-46649A39681A}" sibTransId="{B6B60E79-9982-42EE-871E-42C4951F6E7F}"/>
    <dgm:cxn modelId="{E5D8A610-4AFF-4DC4-92E0-6A3DDF5A4AE4}" srcId="{8DDFA2DD-8B07-4B64-B098-F0D01E28CADD}" destId="{219D005B-213F-483E-B6FF-44F7A71F8D19}" srcOrd="2" destOrd="0" parTransId="{1B7C5CCF-D8D9-45F5-B99D-DF0E811AB29A}" sibTransId="{328CB4C5-5CF6-4796-9E94-7FFD341C27C2}"/>
    <dgm:cxn modelId="{0F452E6D-98BB-46FD-9EEC-0D4F36BBE22A}" srcId="{8DDFA2DD-8B07-4B64-B098-F0D01E28CADD}" destId="{046763D6-D35F-4672-B816-152B5B0B7025}" srcOrd="5" destOrd="0" parTransId="{321D8783-7FC3-4132-AC15-C2518B253EC7}" sibTransId="{8360DD42-58AE-4DFD-9E7B-71D6A59F5376}"/>
    <dgm:cxn modelId="{F540E157-822B-4A8D-8DFB-0C537F1B6761}" type="presOf" srcId="{046763D6-D35F-4672-B816-152B5B0B7025}" destId="{F041B481-B4FC-4140-87CC-3632DA6A54C2}" srcOrd="0" destOrd="0" presId="urn:microsoft.com/office/officeart/2005/8/layout/vList2"/>
    <dgm:cxn modelId="{E574BB7B-DAB0-478C-9647-51F9287B50D6}" srcId="{8DDFA2DD-8B07-4B64-B098-F0D01E28CADD}" destId="{D5CAA9D8-2D8C-464E-8D8D-3C5C028D3CA5}" srcOrd="3" destOrd="0" parTransId="{936E0963-252A-46A9-BE39-A048B4757FF3}" sibTransId="{96D06049-A233-4711-B619-88F4E88E6C07}"/>
    <dgm:cxn modelId="{3CB1589D-298C-424C-A614-B18D9EAA1087}" type="presOf" srcId="{8DDFA2DD-8B07-4B64-B098-F0D01E28CADD}" destId="{0CF3B2CC-C384-48C4-9EE1-F82179E39171}" srcOrd="0" destOrd="0" presId="urn:microsoft.com/office/officeart/2005/8/layout/vList2"/>
    <dgm:cxn modelId="{6D95FAA4-BCAD-4255-9CA8-4A99A8E8B78D}" type="presOf" srcId="{A23F93EF-0666-4E92-BB3B-39113734A4CD}" destId="{8DD488D4-3260-4957-9507-649F5B5FA7D3}" srcOrd="0" destOrd="0" presId="urn:microsoft.com/office/officeart/2005/8/layout/vList2"/>
    <dgm:cxn modelId="{E510CDAF-0235-4E29-B078-3822640CC13D}" srcId="{8DDFA2DD-8B07-4B64-B098-F0D01E28CADD}" destId="{E9376E24-150C-49C0-931C-5A2CE17106E4}" srcOrd="0" destOrd="0" parTransId="{7EEE0BB3-19F5-471F-955D-A67D8F4D5E43}" sibTransId="{0C787144-3C0B-42DB-9F66-A094BD172CB0}"/>
    <dgm:cxn modelId="{97D4D9D0-C3C7-47F6-A97F-CC512944D949}" type="presOf" srcId="{219D005B-213F-483E-B6FF-44F7A71F8D19}" destId="{08E6851F-D657-44FE-81C8-0D6158A90127}" srcOrd="0" destOrd="0" presId="urn:microsoft.com/office/officeart/2005/8/layout/vList2"/>
    <dgm:cxn modelId="{137ED9D9-FDDA-48BE-91D9-F594B03198D0}" type="presOf" srcId="{AE3CFA20-8798-444F-8B82-70756B821D4F}" destId="{F8D8BE82-402D-4EB6-BDD1-BBDD2E3F49D8}" srcOrd="0" destOrd="0" presId="urn:microsoft.com/office/officeart/2005/8/layout/vList2"/>
    <dgm:cxn modelId="{6C9DC4E0-633F-43EE-9ECB-E9214CFD6736}" srcId="{8DDFA2DD-8B07-4B64-B098-F0D01E28CADD}" destId="{A23F93EF-0666-4E92-BB3B-39113734A4CD}" srcOrd="1" destOrd="0" parTransId="{F44133C9-08EB-4ABE-A437-A4DC921BC48F}" sibTransId="{347E3988-3EB1-45FC-9F7C-ECE80328C664}"/>
    <dgm:cxn modelId="{9D0C6051-B3E7-439A-8098-A5582FD12C35}" type="presParOf" srcId="{0CF3B2CC-C384-48C4-9EE1-F82179E39171}" destId="{CF722728-6AE5-40A2-8AEB-AB2D9F7625EB}" srcOrd="0" destOrd="0" presId="urn:microsoft.com/office/officeart/2005/8/layout/vList2"/>
    <dgm:cxn modelId="{D09BF931-46BF-489A-953E-495E95E3D2AD}" type="presParOf" srcId="{0CF3B2CC-C384-48C4-9EE1-F82179E39171}" destId="{9598004F-152F-4575-B2DA-D35E71CDF831}" srcOrd="1" destOrd="0" presId="urn:microsoft.com/office/officeart/2005/8/layout/vList2"/>
    <dgm:cxn modelId="{DB4F487A-D48B-45E5-8FD4-F88F9F1BC4CC}" type="presParOf" srcId="{0CF3B2CC-C384-48C4-9EE1-F82179E39171}" destId="{8DD488D4-3260-4957-9507-649F5B5FA7D3}" srcOrd="2" destOrd="0" presId="urn:microsoft.com/office/officeart/2005/8/layout/vList2"/>
    <dgm:cxn modelId="{B9E7D10F-2AA0-4104-B9A6-677ECFF5EAC8}" type="presParOf" srcId="{0CF3B2CC-C384-48C4-9EE1-F82179E39171}" destId="{9B1D07F3-6493-4065-8867-D6568F653C66}" srcOrd="3" destOrd="0" presId="urn:microsoft.com/office/officeart/2005/8/layout/vList2"/>
    <dgm:cxn modelId="{075BA0A1-F321-404D-8A27-BCAEB87E3C06}" type="presParOf" srcId="{0CF3B2CC-C384-48C4-9EE1-F82179E39171}" destId="{08E6851F-D657-44FE-81C8-0D6158A90127}" srcOrd="4" destOrd="0" presId="urn:microsoft.com/office/officeart/2005/8/layout/vList2"/>
    <dgm:cxn modelId="{3BD5454C-FFBA-4D62-9FA7-C3D8EC19D1CF}" type="presParOf" srcId="{0CF3B2CC-C384-48C4-9EE1-F82179E39171}" destId="{68B6FE3C-A781-458D-8879-7B39A9AFF782}" srcOrd="5" destOrd="0" presId="urn:microsoft.com/office/officeart/2005/8/layout/vList2"/>
    <dgm:cxn modelId="{40E87A1A-2E85-4ED7-B164-95F3EDA376F1}" type="presParOf" srcId="{0CF3B2CC-C384-48C4-9EE1-F82179E39171}" destId="{3CC65C28-1291-482E-BCCE-767933662517}" srcOrd="6" destOrd="0" presId="urn:microsoft.com/office/officeart/2005/8/layout/vList2"/>
    <dgm:cxn modelId="{36BB1C78-4E8E-4D7E-A182-0A44EDBBC016}" type="presParOf" srcId="{0CF3B2CC-C384-48C4-9EE1-F82179E39171}" destId="{1961E264-349B-4B58-BC35-6D0C9D5FFEC2}" srcOrd="7" destOrd="0" presId="urn:microsoft.com/office/officeart/2005/8/layout/vList2"/>
    <dgm:cxn modelId="{FDADBCBF-F927-4C7F-B515-03254930D6BF}" type="presParOf" srcId="{0CF3B2CC-C384-48C4-9EE1-F82179E39171}" destId="{F8D8BE82-402D-4EB6-BDD1-BBDD2E3F49D8}" srcOrd="8" destOrd="0" presId="urn:microsoft.com/office/officeart/2005/8/layout/vList2"/>
    <dgm:cxn modelId="{C1D78493-5000-46C7-8A3B-B25504CF21E0}" type="presParOf" srcId="{0CF3B2CC-C384-48C4-9EE1-F82179E39171}" destId="{6C2ADC6A-44BF-4B8C-AC09-FE0D224D587A}" srcOrd="9" destOrd="0" presId="urn:microsoft.com/office/officeart/2005/8/layout/vList2"/>
    <dgm:cxn modelId="{9AEF5C76-D1E9-4501-AC06-49298E1D10D2}" type="presParOf" srcId="{0CF3B2CC-C384-48C4-9EE1-F82179E39171}" destId="{F041B481-B4FC-4140-87CC-3632DA6A54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22728-6AE5-40A2-8AEB-AB2D9F7625EB}">
      <dsp:nvSpPr>
        <dsp:cNvPr id="0" name=""/>
        <dsp:cNvSpPr/>
      </dsp:nvSpPr>
      <dsp:spPr>
        <a:xfrm>
          <a:off x="0" y="222957"/>
          <a:ext cx="4968415" cy="444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 Data Preprocessing &amp; Cleaning.</a:t>
          </a:r>
        </a:p>
      </dsp:txBody>
      <dsp:txXfrm>
        <a:off x="21704" y="244661"/>
        <a:ext cx="4925007" cy="401192"/>
      </dsp:txXfrm>
    </dsp:sp>
    <dsp:sp modelId="{8DD488D4-3260-4957-9507-649F5B5FA7D3}">
      <dsp:nvSpPr>
        <dsp:cNvPr id="0" name=""/>
        <dsp:cNvSpPr/>
      </dsp:nvSpPr>
      <dsp:spPr>
        <a:xfrm>
          <a:off x="0" y="722277"/>
          <a:ext cx="4968415" cy="444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2. Semantic Embedding Generation.</a:t>
          </a:r>
        </a:p>
      </dsp:txBody>
      <dsp:txXfrm>
        <a:off x="21704" y="743981"/>
        <a:ext cx="4925007" cy="401192"/>
      </dsp:txXfrm>
    </dsp:sp>
    <dsp:sp modelId="{08E6851F-D657-44FE-81C8-0D6158A90127}">
      <dsp:nvSpPr>
        <dsp:cNvPr id="0" name=""/>
        <dsp:cNvSpPr/>
      </dsp:nvSpPr>
      <dsp:spPr>
        <a:xfrm>
          <a:off x="0" y="1221597"/>
          <a:ext cx="4968415" cy="444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3. Clustering</a:t>
          </a:r>
        </a:p>
      </dsp:txBody>
      <dsp:txXfrm>
        <a:off x="21704" y="1243301"/>
        <a:ext cx="4925007" cy="401192"/>
      </dsp:txXfrm>
    </dsp:sp>
    <dsp:sp modelId="{3CC65C28-1291-482E-BCCE-767933662517}">
      <dsp:nvSpPr>
        <dsp:cNvPr id="0" name=""/>
        <dsp:cNvSpPr/>
      </dsp:nvSpPr>
      <dsp:spPr>
        <a:xfrm>
          <a:off x="0" y="1720917"/>
          <a:ext cx="4968415" cy="444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Automated Cluster Naming</a:t>
          </a:r>
        </a:p>
      </dsp:txBody>
      <dsp:txXfrm>
        <a:off x="21704" y="1742621"/>
        <a:ext cx="4925007" cy="401192"/>
      </dsp:txXfrm>
    </dsp:sp>
    <dsp:sp modelId="{F8D8BE82-402D-4EB6-BDD1-BBDD2E3F49D8}">
      <dsp:nvSpPr>
        <dsp:cNvPr id="0" name=""/>
        <dsp:cNvSpPr/>
      </dsp:nvSpPr>
      <dsp:spPr>
        <a:xfrm>
          <a:off x="0" y="2220237"/>
          <a:ext cx="4968415" cy="444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Sentiment &amp; Impact Analysis.</a:t>
          </a:r>
        </a:p>
      </dsp:txBody>
      <dsp:txXfrm>
        <a:off x="21704" y="2241941"/>
        <a:ext cx="4925007" cy="401192"/>
      </dsp:txXfrm>
    </dsp:sp>
    <dsp:sp modelId="{F041B481-B4FC-4140-87CC-3632DA6A54C2}">
      <dsp:nvSpPr>
        <dsp:cNvPr id="0" name=""/>
        <dsp:cNvSpPr/>
      </dsp:nvSpPr>
      <dsp:spPr>
        <a:xfrm>
          <a:off x="0" y="2719557"/>
          <a:ext cx="4968415" cy="444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6. Actionable Insight Generation via LLM.</a:t>
          </a:r>
        </a:p>
      </dsp:txBody>
      <dsp:txXfrm>
        <a:off x="21704" y="2741261"/>
        <a:ext cx="4925007" cy="401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22728-6AE5-40A2-8AEB-AB2D9F7625EB}">
      <dsp:nvSpPr>
        <dsp:cNvPr id="0" name=""/>
        <dsp:cNvSpPr/>
      </dsp:nvSpPr>
      <dsp:spPr>
        <a:xfrm>
          <a:off x="0" y="272154"/>
          <a:ext cx="1946564" cy="163800"/>
        </a:xfrm>
        <a:prstGeom prst="round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1. Data Preprocessing &amp; Cleaning.</a:t>
          </a:r>
        </a:p>
      </dsp:txBody>
      <dsp:txXfrm>
        <a:off x="7996" y="280150"/>
        <a:ext cx="1930572" cy="147808"/>
      </dsp:txXfrm>
    </dsp:sp>
    <dsp:sp modelId="{8DD488D4-3260-4957-9507-649F5B5FA7D3}">
      <dsp:nvSpPr>
        <dsp:cNvPr id="0" name=""/>
        <dsp:cNvSpPr/>
      </dsp:nvSpPr>
      <dsp:spPr>
        <a:xfrm>
          <a:off x="0" y="456114"/>
          <a:ext cx="1946564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 Semantic Embedding Generation.</a:t>
          </a:r>
        </a:p>
      </dsp:txBody>
      <dsp:txXfrm>
        <a:off x="7996" y="464110"/>
        <a:ext cx="1930572" cy="147808"/>
      </dsp:txXfrm>
    </dsp:sp>
    <dsp:sp modelId="{08E6851F-D657-44FE-81C8-0D6158A90127}">
      <dsp:nvSpPr>
        <dsp:cNvPr id="0" name=""/>
        <dsp:cNvSpPr/>
      </dsp:nvSpPr>
      <dsp:spPr>
        <a:xfrm>
          <a:off x="0" y="640074"/>
          <a:ext cx="1946564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3. Clustering</a:t>
          </a:r>
        </a:p>
      </dsp:txBody>
      <dsp:txXfrm>
        <a:off x="7996" y="648070"/>
        <a:ext cx="1930572" cy="147808"/>
      </dsp:txXfrm>
    </dsp:sp>
    <dsp:sp modelId="{3CC65C28-1291-482E-BCCE-767933662517}">
      <dsp:nvSpPr>
        <dsp:cNvPr id="0" name=""/>
        <dsp:cNvSpPr/>
      </dsp:nvSpPr>
      <dsp:spPr>
        <a:xfrm>
          <a:off x="0" y="824034"/>
          <a:ext cx="1946564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4. Automated Cluster Naming</a:t>
          </a:r>
        </a:p>
      </dsp:txBody>
      <dsp:txXfrm>
        <a:off x="7996" y="832030"/>
        <a:ext cx="1930572" cy="147808"/>
      </dsp:txXfrm>
    </dsp:sp>
    <dsp:sp modelId="{F8D8BE82-402D-4EB6-BDD1-BBDD2E3F49D8}">
      <dsp:nvSpPr>
        <dsp:cNvPr id="0" name=""/>
        <dsp:cNvSpPr/>
      </dsp:nvSpPr>
      <dsp:spPr>
        <a:xfrm>
          <a:off x="0" y="1007994"/>
          <a:ext cx="1946564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5. Sentiment &amp; Impact Analysis.</a:t>
          </a:r>
        </a:p>
      </dsp:txBody>
      <dsp:txXfrm>
        <a:off x="7996" y="1015990"/>
        <a:ext cx="1930572" cy="147808"/>
      </dsp:txXfrm>
    </dsp:sp>
    <dsp:sp modelId="{F041B481-B4FC-4140-87CC-3632DA6A54C2}">
      <dsp:nvSpPr>
        <dsp:cNvPr id="0" name=""/>
        <dsp:cNvSpPr/>
      </dsp:nvSpPr>
      <dsp:spPr>
        <a:xfrm>
          <a:off x="0" y="1191954"/>
          <a:ext cx="1946564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6. Actionable Insight Generation via LLM.</a:t>
          </a:r>
        </a:p>
      </dsp:txBody>
      <dsp:txXfrm>
        <a:off x="7996" y="1199950"/>
        <a:ext cx="1930572" cy="1478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22728-6AE5-40A2-8AEB-AB2D9F7625EB}">
      <dsp:nvSpPr>
        <dsp:cNvPr id="0" name=""/>
        <dsp:cNvSpPr/>
      </dsp:nvSpPr>
      <dsp:spPr>
        <a:xfrm>
          <a:off x="0" y="331036"/>
          <a:ext cx="1918855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1. Data Preprocessing &amp; Cleaning.</a:t>
          </a:r>
        </a:p>
      </dsp:txBody>
      <dsp:txXfrm>
        <a:off x="7996" y="339032"/>
        <a:ext cx="1902863" cy="147808"/>
      </dsp:txXfrm>
    </dsp:sp>
    <dsp:sp modelId="{8DD488D4-3260-4957-9507-649F5B5FA7D3}">
      <dsp:nvSpPr>
        <dsp:cNvPr id="0" name=""/>
        <dsp:cNvSpPr/>
      </dsp:nvSpPr>
      <dsp:spPr>
        <a:xfrm>
          <a:off x="0" y="514996"/>
          <a:ext cx="1918855" cy="163800"/>
        </a:xfrm>
        <a:prstGeom prst="round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 Semantic Embedding Generation.</a:t>
          </a:r>
        </a:p>
      </dsp:txBody>
      <dsp:txXfrm>
        <a:off x="7996" y="522992"/>
        <a:ext cx="1902863" cy="147808"/>
      </dsp:txXfrm>
    </dsp:sp>
    <dsp:sp modelId="{08E6851F-D657-44FE-81C8-0D6158A90127}">
      <dsp:nvSpPr>
        <dsp:cNvPr id="0" name=""/>
        <dsp:cNvSpPr/>
      </dsp:nvSpPr>
      <dsp:spPr>
        <a:xfrm>
          <a:off x="0" y="698956"/>
          <a:ext cx="1918855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3. Clustering.</a:t>
          </a:r>
        </a:p>
      </dsp:txBody>
      <dsp:txXfrm>
        <a:off x="7996" y="706952"/>
        <a:ext cx="1902863" cy="147808"/>
      </dsp:txXfrm>
    </dsp:sp>
    <dsp:sp modelId="{3CC65C28-1291-482E-BCCE-767933662517}">
      <dsp:nvSpPr>
        <dsp:cNvPr id="0" name=""/>
        <dsp:cNvSpPr/>
      </dsp:nvSpPr>
      <dsp:spPr>
        <a:xfrm>
          <a:off x="0" y="882916"/>
          <a:ext cx="1918855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4. Automated Cluster Naming.</a:t>
          </a:r>
        </a:p>
      </dsp:txBody>
      <dsp:txXfrm>
        <a:off x="7996" y="890912"/>
        <a:ext cx="1902863" cy="147808"/>
      </dsp:txXfrm>
    </dsp:sp>
    <dsp:sp modelId="{F8D8BE82-402D-4EB6-BDD1-BBDD2E3F49D8}">
      <dsp:nvSpPr>
        <dsp:cNvPr id="0" name=""/>
        <dsp:cNvSpPr/>
      </dsp:nvSpPr>
      <dsp:spPr>
        <a:xfrm>
          <a:off x="0" y="1066876"/>
          <a:ext cx="1918855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5. Sentiment &amp; Impact Analysis.</a:t>
          </a:r>
        </a:p>
      </dsp:txBody>
      <dsp:txXfrm>
        <a:off x="7996" y="1074872"/>
        <a:ext cx="1902863" cy="147808"/>
      </dsp:txXfrm>
    </dsp:sp>
    <dsp:sp modelId="{F041B481-B4FC-4140-87CC-3632DA6A54C2}">
      <dsp:nvSpPr>
        <dsp:cNvPr id="0" name=""/>
        <dsp:cNvSpPr/>
      </dsp:nvSpPr>
      <dsp:spPr>
        <a:xfrm>
          <a:off x="0" y="1250836"/>
          <a:ext cx="1918855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6. Actionable Insight Generation via LLM.</a:t>
          </a:r>
        </a:p>
      </dsp:txBody>
      <dsp:txXfrm>
        <a:off x="7996" y="1258832"/>
        <a:ext cx="1902863" cy="147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22728-6AE5-40A2-8AEB-AB2D9F7625EB}">
      <dsp:nvSpPr>
        <dsp:cNvPr id="0" name=""/>
        <dsp:cNvSpPr/>
      </dsp:nvSpPr>
      <dsp:spPr>
        <a:xfrm>
          <a:off x="0" y="378234"/>
          <a:ext cx="1884218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1. Data Preprocessing &amp; Cleaning.</a:t>
          </a:r>
        </a:p>
      </dsp:txBody>
      <dsp:txXfrm>
        <a:off x="7996" y="386230"/>
        <a:ext cx="1868226" cy="147808"/>
      </dsp:txXfrm>
    </dsp:sp>
    <dsp:sp modelId="{8DD488D4-3260-4957-9507-649F5B5FA7D3}">
      <dsp:nvSpPr>
        <dsp:cNvPr id="0" name=""/>
        <dsp:cNvSpPr/>
      </dsp:nvSpPr>
      <dsp:spPr>
        <a:xfrm>
          <a:off x="0" y="562194"/>
          <a:ext cx="1884218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2. Semantic Embedding Generation.</a:t>
          </a:r>
        </a:p>
      </dsp:txBody>
      <dsp:txXfrm>
        <a:off x="7996" y="570190"/>
        <a:ext cx="1868226" cy="147808"/>
      </dsp:txXfrm>
    </dsp:sp>
    <dsp:sp modelId="{08E6851F-D657-44FE-81C8-0D6158A90127}">
      <dsp:nvSpPr>
        <dsp:cNvPr id="0" name=""/>
        <dsp:cNvSpPr/>
      </dsp:nvSpPr>
      <dsp:spPr>
        <a:xfrm>
          <a:off x="0" y="746154"/>
          <a:ext cx="1884218" cy="163800"/>
        </a:xfrm>
        <a:prstGeom prst="round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3. Clustering</a:t>
          </a:r>
        </a:p>
      </dsp:txBody>
      <dsp:txXfrm>
        <a:off x="7996" y="754150"/>
        <a:ext cx="1868226" cy="147808"/>
      </dsp:txXfrm>
    </dsp:sp>
    <dsp:sp modelId="{3CC65C28-1291-482E-BCCE-767933662517}">
      <dsp:nvSpPr>
        <dsp:cNvPr id="0" name=""/>
        <dsp:cNvSpPr/>
      </dsp:nvSpPr>
      <dsp:spPr>
        <a:xfrm>
          <a:off x="0" y="930114"/>
          <a:ext cx="1884218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4. Automated Cluster Naming</a:t>
          </a:r>
        </a:p>
      </dsp:txBody>
      <dsp:txXfrm>
        <a:off x="7996" y="938110"/>
        <a:ext cx="1868226" cy="147808"/>
      </dsp:txXfrm>
    </dsp:sp>
    <dsp:sp modelId="{F8D8BE82-402D-4EB6-BDD1-BBDD2E3F49D8}">
      <dsp:nvSpPr>
        <dsp:cNvPr id="0" name=""/>
        <dsp:cNvSpPr/>
      </dsp:nvSpPr>
      <dsp:spPr>
        <a:xfrm>
          <a:off x="0" y="1114074"/>
          <a:ext cx="1884218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5. Sentiment &amp; Impact Analysis.</a:t>
          </a:r>
        </a:p>
      </dsp:txBody>
      <dsp:txXfrm>
        <a:off x="7996" y="1122070"/>
        <a:ext cx="1868226" cy="147808"/>
      </dsp:txXfrm>
    </dsp:sp>
    <dsp:sp modelId="{F041B481-B4FC-4140-87CC-3632DA6A54C2}">
      <dsp:nvSpPr>
        <dsp:cNvPr id="0" name=""/>
        <dsp:cNvSpPr/>
      </dsp:nvSpPr>
      <dsp:spPr>
        <a:xfrm>
          <a:off x="0" y="1298034"/>
          <a:ext cx="1884218" cy="163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6. Actionable Insight Generation via LLM.</a:t>
          </a:r>
        </a:p>
      </dsp:txBody>
      <dsp:txXfrm>
        <a:off x="7996" y="1306030"/>
        <a:ext cx="1868226" cy="1478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22728-6AE5-40A2-8AEB-AB2D9F7625EB}">
      <dsp:nvSpPr>
        <dsp:cNvPr id="0" name=""/>
        <dsp:cNvSpPr/>
      </dsp:nvSpPr>
      <dsp:spPr>
        <a:xfrm>
          <a:off x="0" y="228919"/>
          <a:ext cx="1731818" cy="14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1. Data Preprocessing &amp; Cleaning.</a:t>
          </a:r>
        </a:p>
      </dsp:txBody>
      <dsp:txXfrm>
        <a:off x="6854" y="235773"/>
        <a:ext cx="1718110" cy="126691"/>
      </dsp:txXfrm>
    </dsp:sp>
    <dsp:sp modelId="{8DD488D4-3260-4957-9507-649F5B5FA7D3}">
      <dsp:nvSpPr>
        <dsp:cNvPr id="0" name=""/>
        <dsp:cNvSpPr/>
      </dsp:nvSpPr>
      <dsp:spPr>
        <a:xfrm>
          <a:off x="0" y="386599"/>
          <a:ext cx="1731818" cy="14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2. Semantic Embedding Generation.</a:t>
          </a:r>
        </a:p>
      </dsp:txBody>
      <dsp:txXfrm>
        <a:off x="6854" y="393453"/>
        <a:ext cx="1718110" cy="126691"/>
      </dsp:txXfrm>
    </dsp:sp>
    <dsp:sp modelId="{08E6851F-D657-44FE-81C8-0D6158A90127}">
      <dsp:nvSpPr>
        <dsp:cNvPr id="0" name=""/>
        <dsp:cNvSpPr/>
      </dsp:nvSpPr>
      <dsp:spPr>
        <a:xfrm>
          <a:off x="0" y="544279"/>
          <a:ext cx="1731818" cy="14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3. Clustering</a:t>
          </a:r>
        </a:p>
      </dsp:txBody>
      <dsp:txXfrm>
        <a:off x="6854" y="551133"/>
        <a:ext cx="1718110" cy="126691"/>
      </dsp:txXfrm>
    </dsp:sp>
    <dsp:sp modelId="{3CC65C28-1291-482E-BCCE-767933662517}">
      <dsp:nvSpPr>
        <dsp:cNvPr id="0" name=""/>
        <dsp:cNvSpPr/>
      </dsp:nvSpPr>
      <dsp:spPr>
        <a:xfrm>
          <a:off x="0" y="701959"/>
          <a:ext cx="1731818" cy="140399"/>
        </a:xfrm>
        <a:prstGeom prst="round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4. Automated Cluster Naming</a:t>
          </a:r>
        </a:p>
      </dsp:txBody>
      <dsp:txXfrm>
        <a:off x="6854" y="708813"/>
        <a:ext cx="1718110" cy="126691"/>
      </dsp:txXfrm>
    </dsp:sp>
    <dsp:sp modelId="{F8D8BE82-402D-4EB6-BDD1-BBDD2E3F49D8}">
      <dsp:nvSpPr>
        <dsp:cNvPr id="0" name=""/>
        <dsp:cNvSpPr/>
      </dsp:nvSpPr>
      <dsp:spPr>
        <a:xfrm>
          <a:off x="0" y="859639"/>
          <a:ext cx="1731818" cy="14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5. Sentiment &amp; Impact Analysis.</a:t>
          </a:r>
        </a:p>
      </dsp:txBody>
      <dsp:txXfrm>
        <a:off x="6854" y="866493"/>
        <a:ext cx="1718110" cy="126691"/>
      </dsp:txXfrm>
    </dsp:sp>
    <dsp:sp modelId="{F041B481-B4FC-4140-87CC-3632DA6A54C2}">
      <dsp:nvSpPr>
        <dsp:cNvPr id="0" name=""/>
        <dsp:cNvSpPr/>
      </dsp:nvSpPr>
      <dsp:spPr>
        <a:xfrm>
          <a:off x="0" y="1017319"/>
          <a:ext cx="1731818" cy="14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6. Actionable Insight Generation via LLM.</a:t>
          </a:r>
        </a:p>
      </dsp:txBody>
      <dsp:txXfrm>
        <a:off x="6854" y="1024173"/>
        <a:ext cx="1718110" cy="126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20befc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9" name="Google Shape;59;g3920befc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0befcc6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7" name="Google Shape;77;g3920befcc6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0befcc6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3920befcc6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319731a03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2" name="Google Shape;122;g39319731a03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319731a0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" name="Google Shape;128;g39319731a0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319731a0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4" name="Google Shape;134;g39319731a0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319731a0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2" name="Google Shape;142;g39319731a03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319731a0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4" name="Google Shape;154;g39319731a0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20befcc6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4" name="Google Shape;184;g3920befcc6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6932725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00027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103555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49961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099683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727088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141351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604186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483442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83952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81444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65880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782618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D02147F2-7F8B-4A76-96F0-A0BCCAA11B4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896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6173-8613-5AEE-DE9C-12302905A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028" y="846769"/>
            <a:ext cx="7504605" cy="2163390"/>
          </a:xfrm>
        </p:spPr>
        <p:txBody>
          <a:bodyPr/>
          <a:lstStyle/>
          <a:p>
            <a:r>
              <a:rPr lang="en-US" sz="4800" dirty="0"/>
              <a:t>Mirror, Mirror on the Wall, Is AI Transforming Us All?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4B974-6B2D-B8E9-35E6-E2B68CE4C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10" y="3464123"/>
            <a:ext cx="7980329" cy="1429640"/>
          </a:xfrm>
        </p:spPr>
        <p:txBody>
          <a:bodyPr>
            <a:normAutofit/>
          </a:bodyPr>
          <a:lstStyle/>
          <a:p>
            <a:r>
              <a:rPr lang="en-US" dirty="0"/>
              <a:t>RAISE-26</a:t>
            </a:r>
          </a:p>
          <a:p>
            <a:r>
              <a:rPr lang="en-US" dirty="0"/>
              <a:t>Team Name -&gt; Agentic Minds</a:t>
            </a:r>
          </a:p>
          <a:p>
            <a:r>
              <a:rPr lang="en-US" dirty="0"/>
              <a:t>Team Members -&gt; Hanumath Chowdary Mandadi| Abubaker Ahmadi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036EB-4DBA-440D-ADD0-3CDC7EFD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C3729-B212-E495-32BD-0DECAC474847}"/>
              </a:ext>
            </a:extLst>
          </p:cNvPr>
          <p:cNvSpPr txBox="1"/>
          <p:nvPr/>
        </p:nvSpPr>
        <p:spPr>
          <a:xfrm>
            <a:off x="747028" y="2540793"/>
            <a:ext cx="7204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Exploring AI's Impact on Human Behavior Through News Headline Analysis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1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12" name="Rectangle 111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802387" y="633676"/>
            <a:ext cx="4364144" cy="387614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Human behavior is not just what people do, it’s what they </a:t>
            </a:r>
            <a:r>
              <a:rPr lang="en-US" b="1" i="1" dirty="0"/>
              <a:t>accept</a:t>
            </a:r>
            <a:r>
              <a:rPr lang="en-US" b="1" dirty="0"/>
              <a:t>, </a:t>
            </a:r>
            <a:r>
              <a:rPr lang="en-US" b="1" i="1" dirty="0"/>
              <a:t>delegate</a:t>
            </a:r>
            <a:r>
              <a:rPr lang="en-US" b="1" dirty="0"/>
              <a:t>, and </a:t>
            </a:r>
            <a:r>
              <a:rPr lang="en-US" b="1" i="1" dirty="0"/>
              <a:t>trust</a:t>
            </a:r>
            <a:r>
              <a:rPr lang="en-US" b="1" dirty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 this study, human behavior includes: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Who we trust to act</a:t>
            </a:r>
            <a:r>
              <a:rPr lang="en-US" dirty="0"/>
              <a:t> (humans vs. machines)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What skills we keep vs. give up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How responsibility is assigned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How comfortable we are with delegation to AI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 distinction:</a:t>
            </a:r>
            <a:br>
              <a:rPr lang="en-US" dirty="0"/>
            </a:br>
            <a:r>
              <a:rPr lang="en-US" b="1" dirty="0"/>
              <a:t>Behavior ≠ actions alone</a:t>
            </a:r>
            <a:br>
              <a:rPr lang="en-US" dirty="0"/>
            </a:br>
            <a:r>
              <a:rPr lang="en-US" b="1" dirty="0"/>
              <a:t>Behavior = mindset + acceptance + surrender</a:t>
            </a:r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90237" y="2541494"/>
            <a:ext cx="2743200" cy="60512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BF9B298-BC35-4C0F-8301-5D63A1E6D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57144" y="1259678"/>
            <a:ext cx="2624148" cy="2624143"/>
            <a:chOff x="7942859" y="1679571"/>
            <a:chExt cx="3498864" cy="3498858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42859" y="1679571"/>
              <a:ext cx="3498864" cy="3498858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27958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6278976" y="1782646"/>
            <a:ext cx="1980484" cy="1578205"/>
          </a:xfrm>
          <a:prstGeom prst="rect">
            <a:avLst/>
          </a:prstGeom>
          <a:noFill/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 defTabSz="914400">
              <a:spcBef>
                <a:spcPct val="0"/>
              </a:spcBef>
              <a:spcAft>
                <a:spcPts val="0"/>
              </a:spcAft>
            </a:pPr>
            <a:r>
              <a:rPr lang="en-US" sz="2300" b="0" i="0">
                <a:solidFill>
                  <a:schemeClr val="bg1">
                    <a:shade val="97000"/>
                    <a:satMod val="150000"/>
                  </a:schemeClr>
                </a:solidFill>
              </a:rPr>
              <a:t>What Do We Mean by “Human Behavior”?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E4B22-6785-E196-9D55-E88E851E7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Why News Headlines Reveal Human Behavior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100" b="1" dirty="0"/>
              <a:t>Why Headlines Matter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950" dirty="0"/>
              <a:t>They </a:t>
            </a:r>
            <a:r>
              <a:rPr lang="en-US" sz="950" b="1" dirty="0"/>
              <a:t>shape public belief</a:t>
            </a:r>
            <a:endParaRPr lang="en-US" sz="95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950" dirty="0"/>
              <a:t>They </a:t>
            </a:r>
            <a:r>
              <a:rPr lang="en-US" sz="950" b="1" dirty="0"/>
              <a:t>normalize narratives</a:t>
            </a:r>
            <a:endParaRPr lang="en-US" sz="95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950" dirty="0"/>
              <a:t>They </a:t>
            </a:r>
            <a:r>
              <a:rPr lang="en-US" sz="950" b="1" dirty="0"/>
              <a:t>simplify complex realities</a:t>
            </a:r>
            <a:endParaRPr lang="en-US" sz="95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950" dirty="0"/>
              <a:t>They </a:t>
            </a:r>
            <a:r>
              <a:rPr lang="en-US" sz="950" b="1" dirty="0"/>
              <a:t>reflect what editors think audiences will accept</a:t>
            </a:r>
            <a:endParaRPr lang="en-US" sz="950" dirty="0"/>
          </a:p>
          <a:p>
            <a:pPr>
              <a:buFont typeface="Wingdings" panose="05000000000000000000" pitchFamily="2" charset="2"/>
              <a:buChar char="Ø"/>
            </a:pPr>
            <a:endParaRPr lang="en-US" sz="11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100" b="1" dirty="0"/>
              <a:t>Key insight:</a:t>
            </a:r>
            <a:br>
              <a:rPr lang="en-US" sz="1100" dirty="0"/>
            </a:br>
            <a:r>
              <a:rPr lang="en-US" sz="1100" i="1" dirty="0"/>
              <a:t>What sounds “normal” today shapes human behavior tomorrow.</a:t>
            </a:r>
            <a:endParaRPr lang="en-US" sz="11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F1EB8D-5820-2CD0-257E-FC4470855F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AI Changes Human Behavior (Not Just Technology)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463651"/>
            <a:ext cx="7342936" cy="2216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Montserrat"/>
                <a:ea typeface="Montserrat"/>
                <a:cs typeface="Montserrat"/>
                <a:sym typeface="Montserrat"/>
              </a:rPr>
              <a:t>AI differs from past tools because it: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Montserrat"/>
                <a:ea typeface="Montserrat"/>
                <a:cs typeface="Montserrat"/>
                <a:sym typeface="Montserrat"/>
              </a:rPr>
              <a:t>Acts autonomously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Montserrat"/>
                <a:ea typeface="Montserrat"/>
                <a:cs typeface="Montserrat"/>
                <a:sym typeface="Montserrat"/>
              </a:rPr>
              <a:t>Makes decisions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Montserrat"/>
                <a:ea typeface="Montserrat"/>
                <a:cs typeface="Montserrat"/>
                <a:sym typeface="Montserrat"/>
              </a:rPr>
              <a:t>Mimics human cognition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Montserrat"/>
                <a:ea typeface="Montserrat"/>
                <a:cs typeface="Montserrat"/>
                <a:sym typeface="Montserrat"/>
              </a:rPr>
              <a:t>Operates at scale</a:t>
            </a:r>
            <a:br>
              <a:rPr lang="en" sz="1100" dirty="0">
                <a:latin typeface="Montserrat"/>
                <a:ea typeface="Montserrat"/>
                <a:cs typeface="Montserrat"/>
                <a:sym typeface="Montserrat"/>
              </a:rPr>
            </a:br>
            <a:endParaRPr sz="11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latin typeface="Montserrat"/>
                <a:ea typeface="Montserrat"/>
                <a:cs typeface="Montserrat"/>
                <a:sym typeface="Montserrat"/>
              </a:rPr>
              <a:t>Behavioral consequence: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4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sz="1400" dirty="0">
                <a:latin typeface="Montserrat"/>
                <a:ea typeface="Montserrat"/>
                <a:cs typeface="Montserrat"/>
                <a:sym typeface="Montserrat"/>
              </a:rPr>
              <a:t>Humans stop </a:t>
            </a:r>
            <a:r>
              <a:rPr lang="en" sz="1400" i="1" dirty="0">
                <a:latin typeface="Montserrat"/>
                <a:ea typeface="Montserrat"/>
                <a:cs typeface="Montserrat"/>
                <a:sym typeface="Montserrat"/>
              </a:rPr>
              <a:t>doing</a:t>
            </a:r>
            <a:r>
              <a:rPr lang="en" sz="1400" dirty="0">
                <a:latin typeface="Montserrat"/>
                <a:ea typeface="Montserrat"/>
                <a:cs typeface="Montserrat"/>
                <a:sym typeface="Montserrat"/>
              </a:rPr>
              <a:t> → start </a:t>
            </a:r>
            <a:r>
              <a:rPr lang="en" sz="1400" i="1" dirty="0">
                <a:latin typeface="Montserrat"/>
                <a:ea typeface="Montserrat"/>
                <a:cs typeface="Montserrat"/>
                <a:sym typeface="Montserrat"/>
              </a:rPr>
              <a:t>overseeing</a:t>
            </a:r>
            <a:endParaRPr sz="1400" i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8B158-0933-7EDE-14EF-9BB4D856F4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F9A3-20E3-2755-C50F-8BDC6C68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DFA4-E5F8-5553-0103-DE9C8B346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14" y="1570482"/>
            <a:ext cx="7543800" cy="303809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Central Question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How is AI shaping the ways humans think, act, and interact?</a:t>
            </a:r>
          </a:p>
          <a:p>
            <a:pPr>
              <a:lnSpc>
                <a:spcPct val="110000"/>
              </a:lnSpc>
            </a:pPr>
            <a:r>
              <a:rPr lang="en-US" dirty="0"/>
              <a:t>Our approach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Dataset: 3,500 AI news headlines (RAISE-26 Dataset B)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Semantic embeddings to capture meaning beyond keywords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Unsupervised clustering to discover impact themes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Multi-method validation (sentiment, sources, behavioral classes)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LLM-powered interpretation (Qwen2.5-7B open-weights)</a:t>
            </a:r>
          </a:p>
          <a:p>
            <a:pPr>
              <a:lnSpc>
                <a:spcPct val="110000"/>
              </a:lnSpc>
            </a:pPr>
            <a:r>
              <a:rPr lang="en-US" dirty="0"/>
              <a:t>Deliverable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Data-driven insights on AI's heterogeneous transformation of human behavior</a:t>
            </a:r>
          </a:p>
          <a:p>
            <a:pPr>
              <a:lnSpc>
                <a:spcPct val="110000"/>
              </a:lnSpc>
            </a:pPr>
            <a:r>
              <a:rPr lang="en-US" dirty="0"/>
              <a:t>Key Finding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AI discourse has evolved from technical novelty into four critical behavioral spheres, primarily </a:t>
            </a:r>
            <a:r>
              <a:rPr lang="en-US" b="1" dirty="0"/>
              <a:t>dominated</a:t>
            </a:r>
            <a:r>
              <a:rPr lang="en-US" dirty="0"/>
              <a:t> by concerns over labor, healthcare, and governance.</a:t>
            </a:r>
          </a:p>
          <a:p>
            <a:pPr marL="205740" lvl="1" indent="0">
              <a:lnSpc>
                <a:spcPct val="110000"/>
              </a:lnSpc>
              <a:buNone/>
            </a:pPr>
            <a:endParaRPr lang="en-US" b="1" dirty="0"/>
          </a:p>
          <a:p>
            <a:pPr marL="205740" lvl="1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C0B93-3D8D-4DBC-BEB7-AAB4B5C1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431A-B223-DE86-2A8F-399E2B4E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Competition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EC09C-76B0-8E7C-AEB7-5B6BBB6A7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Dataset -&gt; Dataset B (3,500 rows) | dataset_B_news_subset_3500.csv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Environment -&gt; Python 3 via Google Collab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Libraries -&gt; sentence-transformers, scikit-learn, transformers (AutoModelForCausalLM), etc..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Models -&gt; all-MiniLM-L6-v2, </a:t>
            </a:r>
            <a:r>
              <a:rPr lang="en" sz="1600" dirty="0">
                <a:solidFill>
                  <a:schemeClr val="dk1"/>
                </a:solidFill>
              </a:rPr>
              <a:t>Qwen2.5-7B-Instruct</a:t>
            </a:r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Execution -&gt; Notebook supports one-click run execution.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3D9A6-FD1D-FA8E-B493-A07EA0A39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4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567E-5164-3E37-DABD-4E90F730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30" y="378923"/>
            <a:ext cx="7574625" cy="572700"/>
          </a:xfrm>
        </p:spPr>
        <p:txBody>
          <a:bodyPr>
            <a:noAutofit/>
          </a:bodyPr>
          <a:lstStyle/>
          <a:p>
            <a:r>
              <a:rPr lang="en-US" sz="2600" dirty="0"/>
              <a:t>"Technical Approach: Multi-Method Pipeline"</a:t>
            </a:r>
          </a:p>
        </p:txBody>
      </p:sp>
      <p:graphicFrame>
        <p:nvGraphicFramePr>
          <p:cNvPr id="4" name="Google Shape;92;p19">
            <a:extLst>
              <a:ext uri="{FF2B5EF4-FFF2-40B4-BE49-F238E27FC236}">
                <a16:creationId xmlns:a16="http://schemas.microsoft.com/office/drawing/2014/main" id="{D281D6F3-BE88-A26B-6913-FD1A053929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500940"/>
              </p:ext>
            </p:extLst>
          </p:nvPr>
        </p:nvGraphicFramePr>
        <p:xfrm>
          <a:off x="1917294" y="1097096"/>
          <a:ext cx="4968415" cy="3387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C47292-26AC-CB45-9DF1-5D30F439C5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73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CAA7-7CA2-2906-FB22-F66360F0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Loading the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10485-48F1-70C5-E69C-257EB031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1" y="1295399"/>
            <a:ext cx="6256334" cy="3245767"/>
          </a:xfrm>
          <a:prstGeom prst="rect">
            <a:avLst/>
          </a:prstGeom>
        </p:spPr>
      </p:pic>
      <p:graphicFrame>
        <p:nvGraphicFramePr>
          <p:cNvPr id="7" name="Google Shape;92;p19">
            <a:extLst>
              <a:ext uri="{FF2B5EF4-FFF2-40B4-BE49-F238E27FC236}">
                <a16:creationId xmlns:a16="http://schemas.microsoft.com/office/drawing/2014/main" id="{0381E63F-0581-47E4-A440-4BBF627BF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9308590"/>
              </p:ext>
            </p:extLst>
          </p:nvPr>
        </p:nvGraphicFramePr>
        <p:xfrm>
          <a:off x="7197436" y="-110836"/>
          <a:ext cx="1946564" cy="1627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F53EE4E-358A-4B47-AD17-0507100274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4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18C4-953B-90B7-D63B-924959B0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</p:spPr>
        <p:txBody>
          <a:bodyPr>
            <a:normAutofit/>
          </a:bodyPr>
          <a:lstStyle/>
          <a:p>
            <a:r>
              <a:rPr lang="en-US" dirty="0"/>
              <a:t>Semantic Embeddings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0CDFE-21F0-F11C-AB16-E4D587073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580" y="3431390"/>
            <a:ext cx="4410420" cy="113758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graphicFrame>
        <p:nvGraphicFramePr>
          <p:cNvPr id="10" name="Google Shape;92;p19">
            <a:extLst>
              <a:ext uri="{FF2B5EF4-FFF2-40B4-BE49-F238E27FC236}">
                <a16:creationId xmlns:a16="http://schemas.microsoft.com/office/drawing/2014/main" id="{E2633953-D2A6-C870-4C70-CBBCE5255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2917319"/>
              </p:ext>
            </p:extLst>
          </p:nvPr>
        </p:nvGraphicFramePr>
        <p:xfrm>
          <a:off x="7225145" y="-193964"/>
          <a:ext cx="1918855" cy="1745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3D8854-421D-7C98-1456-CEDE1A843597}"/>
              </a:ext>
            </a:extLst>
          </p:cNvPr>
          <p:cNvSpPr txBox="1"/>
          <p:nvPr/>
        </p:nvSpPr>
        <p:spPr>
          <a:xfrm>
            <a:off x="76201" y="1362227"/>
            <a:ext cx="8839199" cy="2316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WHAT: Transform headlines into numerical vectors (384 dimensions)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WHY: Captures meaning beyond keywords "AI threatens jobs" ≈ "Automation displaces workers"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	(Different words, same meaning → similar vectors)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MODEL: </a:t>
            </a:r>
            <a:r>
              <a:rPr lang="en-US" sz="1400" dirty="0">
                <a:highlight>
                  <a:srgbClr val="FFFF00"/>
                </a:highlight>
              </a:rPr>
              <a:t>all-MiniLM-L6-v2</a:t>
            </a:r>
            <a:r>
              <a:rPr lang="en-US" sz="1400" dirty="0"/>
              <a:t> (Sentence Transformers) - Optimized for short text -Fast and efficient - Proven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MATH: Each headline </a:t>
            </a:r>
            <a:r>
              <a:rPr lang="en-US" sz="1400" dirty="0">
                <a:highlight>
                  <a:srgbClr val="FFFF00"/>
                </a:highlight>
              </a:rPr>
              <a:t>h → vector v ∈ ℝ³⁸⁴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Similarity = cosine distance.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NORMALIZATION: All vectors scaled to unit length.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040ABB-5580-732D-2D89-DA7299CD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4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K-MEANS CLUSTERING</a:t>
            </a:r>
            <a:endParaRPr sz="2400" dirty="0"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7860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400" dirty="0"/>
              <a:t>OBJECTIVE</a:t>
            </a:r>
          </a:p>
          <a:p>
            <a:pPr marL="7429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250" dirty="0"/>
              <a:t>Partition headlines into k groups by minimizing within-cluster variance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400" dirty="0"/>
              <a:t>ALGORITHM</a:t>
            </a:r>
          </a:p>
          <a:p>
            <a:pPr marL="800100" lvl="1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50" dirty="0"/>
              <a:t>Initialize k centroids randomly</a:t>
            </a:r>
          </a:p>
          <a:p>
            <a:pPr marL="800100" lvl="1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400" dirty="0"/>
              <a:t>Assign headlines to nearest centroid</a:t>
            </a:r>
          </a:p>
          <a:p>
            <a:pPr marL="800100" lvl="1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400" dirty="0"/>
              <a:t>Update centroids (mean of assigned points)</a:t>
            </a:r>
          </a:p>
          <a:p>
            <a:pPr marL="800100" lvl="1" indent="-342900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400" dirty="0"/>
              <a:t>Repeat until convergence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400" dirty="0"/>
              <a:t>OPTIMAL k SELECTION</a:t>
            </a:r>
          </a:p>
          <a:p>
            <a:pPr marL="7429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250" dirty="0"/>
              <a:t>Tested k = 3 to 9 using </a:t>
            </a:r>
            <a:r>
              <a:rPr lang="en-US" sz="1250" b="1" dirty="0"/>
              <a:t>silhouette score</a:t>
            </a:r>
          </a:p>
          <a:p>
            <a:pPr marL="7429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250" dirty="0"/>
              <a:t>Measures cluster cohesion + separation</a:t>
            </a:r>
          </a:p>
          <a:p>
            <a:pPr marL="7429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250" dirty="0"/>
              <a:t>Range: -1 (poor) to +1 (excellent)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400" dirty="0"/>
              <a:t>RESULTS</a:t>
            </a:r>
          </a:p>
          <a:p>
            <a:pPr marL="7429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250" dirty="0"/>
              <a:t>k=4 optimal with score = 0.0312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400" dirty="0"/>
              <a:t>Four meaningful clusters discovered</a:t>
            </a:r>
            <a:endParaRPr sz="1400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sz="1400" dirty="0"/>
          </a:p>
        </p:txBody>
      </p:sp>
      <p:graphicFrame>
        <p:nvGraphicFramePr>
          <p:cNvPr id="5" name="Google Shape;92;p19">
            <a:extLst>
              <a:ext uri="{FF2B5EF4-FFF2-40B4-BE49-F238E27FC236}">
                <a16:creationId xmlns:a16="http://schemas.microsoft.com/office/drawing/2014/main" id="{E269A24A-9916-B7D2-AEEC-52E08A88D7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0178275"/>
              </p:ext>
            </p:extLst>
          </p:nvPr>
        </p:nvGraphicFramePr>
        <p:xfrm>
          <a:off x="7259782" y="-219085"/>
          <a:ext cx="1884218" cy="1840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6876D69-BA1D-5791-7962-83F05A663D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3496" y="3077298"/>
            <a:ext cx="5150504" cy="1486029"/>
          </a:xfrm>
          <a:prstGeom prst="rect">
            <a:avLst/>
          </a:prstGeom>
        </p:spPr>
      </p:pic>
      <p:pic>
        <p:nvPicPr>
          <p:cNvPr id="8" name="Google Shape;119;p23">
            <a:extLst>
              <a:ext uri="{FF2B5EF4-FFF2-40B4-BE49-F238E27FC236}">
                <a16:creationId xmlns:a16="http://schemas.microsoft.com/office/drawing/2014/main" id="{572A5DA0-ECFC-8FB0-351C-D6EE778E5B8D}"/>
              </a:ext>
            </a:extLst>
          </p:cNvPr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5464629" y="1904089"/>
            <a:ext cx="3679371" cy="116766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91EE807-0887-6C91-7971-3A38AD7ABF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2" name="Group 5151">
            <a:extLst>
              <a:ext uri="{FF2B5EF4-FFF2-40B4-BE49-F238E27FC236}">
                <a16:creationId xmlns:a16="http://schemas.microsoft.com/office/drawing/2014/main" id="{E8F29087-ACE2-44C3-956E-8BBD2CCF2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5153" name="Oval 5152">
              <a:extLst>
                <a:ext uri="{FF2B5EF4-FFF2-40B4-BE49-F238E27FC236}">
                  <a16:creationId xmlns:a16="http://schemas.microsoft.com/office/drawing/2014/main" id="{794FE430-BE16-43A5-82D1-EAB0A12FB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154" name="Oval 5153">
              <a:extLst>
                <a:ext uri="{FF2B5EF4-FFF2-40B4-BE49-F238E27FC236}">
                  <a16:creationId xmlns:a16="http://schemas.microsoft.com/office/drawing/2014/main" id="{69B6F182-333D-4D86-8BC6-081C5A95F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155" name="Rectangle 5154">
            <a:extLst>
              <a:ext uri="{FF2B5EF4-FFF2-40B4-BE49-F238E27FC236}">
                <a16:creationId xmlns:a16="http://schemas.microsoft.com/office/drawing/2014/main" id="{9A395A46-1819-40A2-AEA7-F0FDA491C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241299"/>
            <a:ext cx="4330701" cy="4335513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3E78E-7503-48AC-D5F2-C14C5F5A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69" y="363474"/>
            <a:ext cx="3876126" cy="1207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300" dirty="0"/>
              <a:t>Distance-to-Centroid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FF291-0C07-B7E5-AEA8-43CF62C23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68" y="1591056"/>
            <a:ext cx="4088331" cy="281972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Calculate the distance-to-centroid distribution for each cluster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200" dirty="0"/>
              <a:t>Then separate the headlines closest to the centroid, and provide it to the LLM to generate recommendations to optimize the results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Why This Matters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Cluster quality assessment</a:t>
            </a:r>
            <a:r>
              <a:rPr lang="en-US" dirty="0"/>
              <a:t>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Tight distributions validate that K-Means found meaningful groups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Wide distributions suggest cluster may contain multiple sub-themes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Outliers (far from centroid) may be misclassified or represent edge cases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Comparison across clusters: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Comparing distributions reveals which domains have </a:t>
            </a:r>
            <a:r>
              <a:rPr lang="en-US" b="1" dirty="0"/>
              <a:t>clearer boundaries</a:t>
            </a:r>
            <a:r>
              <a:rPr lang="en-US" dirty="0"/>
              <a:t> (Education) vs. </a:t>
            </a:r>
            <a:r>
              <a:rPr lang="en-US" b="1" dirty="0"/>
              <a:t>fuzzier boundaries</a:t>
            </a:r>
            <a:r>
              <a:rPr lang="en-US" dirty="0"/>
              <a:t> (Ethics)</a:t>
            </a:r>
          </a:p>
          <a:p>
            <a:pPr indent="-182880" defTabSz="914400">
              <a:buSzPct val="85000"/>
              <a:buFont typeface="Wingdings" pitchFamily="2" charset="2"/>
              <a:buChar char="§"/>
            </a:pPr>
            <a:endParaRPr lang="en-US" sz="1400" dirty="0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28073F59-0172-425F-9B05-99F9F925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8683" y="241299"/>
            <a:ext cx="1979711" cy="2107431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7" name="Rectangle 5156">
            <a:extLst>
              <a:ext uri="{FF2B5EF4-FFF2-40B4-BE49-F238E27FC236}">
                <a16:creationId xmlns:a16="http://schemas.microsoft.com/office/drawing/2014/main" id="{7367BF2E-18B8-45B6-9AE8-D20F15008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077" y="241299"/>
            <a:ext cx="1979710" cy="2107431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07DB611-DEB4-7B24-B998-AEE77EF43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4368" y="560938"/>
            <a:ext cx="1735074" cy="140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8" name="Rectangle 5157">
            <a:extLst>
              <a:ext uri="{FF2B5EF4-FFF2-40B4-BE49-F238E27FC236}">
                <a16:creationId xmlns:a16="http://schemas.microsoft.com/office/drawing/2014/main" id="{2BF3333D-A3D1-4EF9-9174-C837EDE24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8683" y="2469992"/>
            <a:ext cx="1979711" cy="2107431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5" name="Rectangle 5144">
            <a:extLst>
              <a:ext uri="{FF2B5EF4-FFF2-40B4-BE49-F238E27FC236}">
                <a16:creationId xmlns:a16="http://schemas.microsoft.com/office/drawing/2014/main" id="{4C7AA4FB-6CE2-4D5C-8CE7-21E300B7E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077" y="2469992"/>
            <a:ext cx="1979710" cy="2107431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59" name="Group 5158">
            <a:extLst>
              <a:ext uri="{FF2B5EF4-FFF2-40B4-BE49-F238E27FC236}">
                <a16:creationId xmlns:a16="http://schemas.microsoft.com/office/drawing/2014/main" id="{E4ED421E-D0CF-4B7D-B4F4-C3197B027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5160" name="Oval 5159">
              <a:extLst>
                <a:ext uri="{FF2B5EF4-FFF2-40B4-BE49-F238E27FC236}">
                  <a16:creationId xmlns:a16="http://schemas.microsoft.com/office/drawing/2014/main" id="{102D075B-0C27-429F-A2C1-CDBEC59B5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161" name="Oval 5160">
              <a:extLst>
                <a:ext uri="{FF2B5EF4-FFF2-40B4-BE49-F238E27FC236}">
                  <a16:creationId xmlns:a16="http://schemas.microsoft.com/office/drawing/2014/main" id="{0A3F332B-27F0-4FA4-B1B3-E347DC440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18A7E45-A892-AB29-AD0A-47EA5C1F9E88}"/>
              </a:ext>
            </a:extLst>
          </p:cNvPr>
          <p:cNvSpPr txBox="1"/>
          <p:nvPr/>
        </p:nvSpPr>
        <p:spPr>
          <a:xfrm>
            <a:off x="4640342" y="4648285"/>
            <a:ext cx="40421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Histograms</a:t>
            </a:r>
            <a:r>
              <a:rPr lang="en-US" sz="900" dirty="0"/>
              <a:t> of distances from headlines to their cluster centroid reveals cluster </a:t>
            </a:r>
            <a:r>
              <a:rPr lang="en-US" sz="900" b="1" dirty="0"/>
              <a:t>cohesion</a:t>
            </a:r>
            <a:r>
              <a:rPr lang="en-US" sz="900" dirty="0"/>
              <a:t> and </a:t>
            </a:r>
            <a:r>
              <a:rPr lang="en-US" sz="900" b="1" dirty="0"/>
              <a:t>structure</a:t>
            </a:r>
            <a:r>
              <a:rPr lang="en-US" sz="900" dirty="0"/>
              <a:t>.</a:t>
            </a:r>
          </a:p>
          <a:p>
            <a:endParaRPr lang="en-US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1957D-66BD-A968-6D90-63B7887532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11</a:t>
            </a:fld>
            <a:endParaRPr lang="en-US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250F9EE0-0927-EAB8-0DEA-DF83DCA2A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4368" y="2788336"/>
            <a:ext cx="1735074" cy="140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D7E915BB-237A-C643-D8B4-762FD0E57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7395" y="2799181"/>
            <a:ext cx="1735074" cy="138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ue graph with text&#10;&#10;AI-generated content may be incorrect.">
            <a:extLst>
              <a:ext uri="{FF2B5EF4-FFF2-40B4-BE49-F238E27FC236}">
                <a16:creationId xmlns:a16="http://schemas.microsoft.com/office/drawing/2014/main" id="{43FCB772-30A2-4CBA-0F77-33C2BF3BF8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2922" y="565211"/>
            <a:ext cx="1864404" cy="13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7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228572" y="271759"/>
            <a:ext cx="70242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Automated Cluster Naming</a:t>
            </a:r>
            <a:endParaRPr sz="2400" dirty="0"/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228572" y="1022385"/>
            <a:ext cx="7543828" cy="2531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050" b="1" dirty="0"/>
              <a:t>CHALLENGE: </a:t>
            </a:r>
            <a:r>
              <a:rPr lang="en-US" sz="1050" dirty="0"/>
              <a:t> K-Means produces numeric labels (0,1,2,3). Need interpretable names capturing each cluster's theme without bias.</a:t>
            </a:r>
            <a:endParaRPr lang="en" sz="105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05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 dirty="0"/>
              <a:t>Labeling Strategy</a:t>
            </a:r>
            <a:r>
              <a:rPr lang="en" sz="1050" dirty="0"/>
              <a:t>: Used the </a:t>
            </a:r>
            <a:r>
              <a:rPr lang="en" sz="1050" b="1" dirty="0"/>
              <a:t>Fβ score</a:t>
            </a:r>
            <a:r>
              <a:rPr lang="en" sz="1050" dirty="0"/>
              <a:t> (balancing coverage and precision) and the </a:t>
            </a:r>
            <a:r>
              <a:rPr lang="en" sz="1050" b="1" dirty="0">
                <a:solidFill>
                  <a:schemeClr val="dk1"/>
                </a:solidFill>
                <a:highlight>
                  <a:srgbClr val="FFFF00"/>
                </a:highlight>
              </a:rPr>
              <a:t>Qwen2.5-7B-Instruct</a:t>
            </a:r>
            <a:r>
              <a:rPr lang="en" sz="1050" dirty="0">
                <a:solidFill>
                  <a:schemeClr val="dk1"/>
                </a:solidFill>
              </a:rPr>
              <a:t> </a:t>
            </a:r>
            <a:r>
              <a:rPr lang="en" sz="1050" dirty="0"/>
              <a:t>model to name clusters without human bias.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05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b="1" dirty="0"/>
              <a:t>Process</a:t>
            </a:r>
            <a:r>
              <a:rPr lang="en-US" sz="1050" dirty="0"/>
              <a:t>: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Step 1: Extract Context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Step 2: Construct Prompt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Step 3: Generate Name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Step 4: Validate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Step 5: Fallback</a:t>
            </a:r>
            <a:endParaRPr sz="105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endParaRPr lang="en" sz="1050" b="1" dirty="0"/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1050" b="1" dirty="0"/>
              <a:t>4 Detected “Spheres of Behavior“ (Clusters)</a:t>
            </a:r>
            <a:r>
              <a:rPr lang="en" sz="1050" b="1" dirty="0"/>
              <a:t>:</a:t>
            </a:r>
          </a:p>
          <a:p>
            <a:pPr marL="2857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050" b="1" dirty="0"/>
              <a:t>Education: </a:t>
            </a:r>
            <a:r>
              <a:rPr lang="en" sz="1050" dirty="0"/>
              <a:t>Impacts on students, literacy, and classrooms.</a:t>
            </a:r>
          </a:p>
          <a:p>
            <a:pPr marL="742950" lvl="3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(Keywords: student, teacher, learn)</a:t>
            </a:r>
            <a:endParaRPr lang="en" sz="1050" dirty="0"/>
          </a:p>
          <a:p>
            <a:pPr marL="2857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050" b="1" dirty="0"/>
              <a:t>Job Market Impact: </a:t>
            </a:r>
            <a:r>
              <a:rPr lang="en" sz="1050" dirty="0"/>
              <a:t>Effects on workers and layoffs.</a:t>
            </a:r>
          </a:p>
          <a:p>
            <a:pPr marL="742950" lvl="2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(Keywords: layoff, jobs, replace)</a:t>
            </a:r>
            <a:endParaRPr lang="en" sz="1050" dirty="0"/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050" b="1" dirty="0"/>
              <a:t>Healthcare</a:t>
            </a:r>
            <a:r>
              <a:rPr lang="en" sz="1050" dirty="0"/>
              <a:t>: Innovation in diagnosis and patient care.</a:t>
            </a:r>
          </a:p>
          <a:p>
            <a:pPr marL="7429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(Keywords: diagnosis, cancer, detection)</a:t>
            </a:r>
            <a:endParaRPr lang="en" sz="1050" b="1" dirty="0"/>
          </a:p>
          <a:p>
            <a:pPr marL="285750" lvl="1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050" b="1" dirty="0"/>
              <a:t>Ethics: </a:t>
            </a:r>
            <a:r>
              <a:rPr lang="en" sz="1050" dirty="0"/>
              <a:t>Regulation, lawsuits, and ethical frameworks</a:t>
            </a:r>
          </a:p>
          <a:p>
            <a:pPr marL="742950" lvl="3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050" dirty="0"/>
              <a:t>(Keywords: deepfake, scam, regulation)</a:t>
            </a:r>
            <a:endParaRPr lang="en" sz="1050" dirty="0"/>
          </a:p>
        </p:txBody>
      </p:sp>
      <p:graphicFrame>
        <p:nvGraphicFramePr>
          <p:cNvPr id="5" name="Google Shape;92;p19">
            <a:extLst>
              <a:ext uri="{FF2B5EF4-FFF2-40B4-BE49-F238E27FC236}">
                <a16:creationId xmlns:a16="http://schemas.microsoft.com/office/drawing/2014/main" id="{191EBC76-0457-9141-6E43-5AD402F6A2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6905785"/>
              </p:ext>
            </p:extLst>
          </p:nvPr>
        </p:nvGraphicFramePr>
        <p:xfrm>
          <a:off x="7412182" y="-49675"/>
          <a:ext cx="1731818" cy="1386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353D61-49BE-F079-B8FB-49AF03A217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12</a:t>
            </a:fld>
            <a:endParaRPr lang="en-US"/>
          </a:p>
        </p:txBody>
      </p:sp>
      <p:pic>
        <p:nvPicPr>
          <p:cNvPr id="142" name="Picture 14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9D372-E85F-7BCD-2692-0799067A5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6712" y="4405745"/>
            <a:ext cx="2914603" cy="738726"/>
          </a:xfrm>
          <a:prstGeom prst="rect">
            <a:avLst/>
          </a:prstGeom>
        </p:spPr>
      </p:pic>
      <p:pic>
        <p:nvPicPr>
          <p:cNvPr id="164" name="Picture 16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39E2D47-94B7-C2EB-FE32-7FFF7CD01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118" r="525" b="-480"/>
          <a:stretch>
            <a:fillRect/>
          </a:stretch>
        </p:blipFill>
        <p:spPr>
          <a:xfrm>
            <a:off x="5149973" y="2813711"/>
            <a:ext cx="3992896" cy="23292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balls on a grid&#10;&#10;AI-generated content may be incorrect.">
            <a:extLst>
              <a:ext uri="{FF2B5EF4-FFF2-40B4-BE49-F238E27FC236}">
                <a16:creationId xmlns:a16="http://schemas.microsoft.com/office/drawing/2014/main" id="{B250DEFF-2A54-B258-88F4-701B78FFC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2" y="1867742"/>
            <a:ext cx="8455981" cy="273950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A88507-7E88-FC0F-E8B2-4329ADFC31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13</a:t>
            </a:fld>
            <a:endParaRPr lang="en-US"/>
          </a:p>
        </p:txBody>
      </p:sp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Visualizing the AI Impact Landscape</a:t>
            </a:r>
            <a:endParaRPr sz="2400"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146500" cy="669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/>
              <a:t>Applied </a:t>
            </a:r>
            <a:r>
              <a:rPr lang="en" b="1"/>
              <a:t>PCA (Principal Component Analysis)</a:t>
            </a:r>
            <a:r>
              <a:rPr lang="en"/>
              <a:t> to reduce complex embedding vectors into 3D coordinates (X, Y, Z).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6073104" y="3543337"/>
            <a:ext cx="2948054" cy="8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Displaying a 3D scatter plot of the clusters reveals the "topography" of AI discourse, showing how specific topics like ethics or technical updates group together</a:t>
            </a:r>
            <a:endParaRPr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Thematic Discovery – TF-IDF Keywords</a:t>
            </a:r>
            <a:endParaRPr lang="en-US" sz="2400"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b="1"/>
              <a:t>Method</a:t>
            </a:r>
            <a:r>
              <a:rPr lang="en-US"/>
              <a:t>: Used </a:t>
            </a:r>
            <a:r>
              <a:rPr lang="en-US" b="1">
                <a:highlight>
                  <a:srgbClr val="FFFF00"/>
                </a:highlight>
              </a:rPr>
              <a:t>c-TF-IDF</a:t>
            </a:r>
            <a:r>
              <a:rPr lang="en-US"/>
              <a:t> (Class-based Term Frequency-Inverse Document Frequency) to find the top 20 keywords for each cluster.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b="1"/>
              <a:t>Insight</a:t>
            </a:r>
            <a:r>
              <a:rPr lang="en-US"/>
              <a:t>: This identifies the "signature" terms for each group, such as "layoff" in labor clusters or "diagnosis" in healthcare clusters.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56E25-CB5A-DE30-2BA5-9D7D138BA1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14</a:t>
            </a:fld>
            <a:endParaRPr lang="en-US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109904A-6EB8-C55E-CA71-D2BE1291B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9240"/>
            <a:ext cx="9144000" cy="20093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EC78E3E1-BBBA-4058-AAEB-714F04B0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86860FA5-CE2B-4019-8FD1-031D7D84E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392DF474-2C37-4DC7-B889-E88EAADE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DA90C30-B990-4CCA-B584-40F864DA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8955" cy="5143499"/>
          </a:xfrm>
          <a:prstGeom prst="rect">
            <a:avLst/>
          </a:prstGeom>
          <a:blipFill dpi="0" rotWithShape="1">
            <a:blip r:embed="rId5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Google Shape;156;p29"/>
          <p:cNvSpPr txBox="1">
            <a:spLocks noGrp="1"/>
          </p:cNvSpPr>
          <p:nvPr>
            <p:ph type="title"/>
          </p:nvPr>
        </p:nvSpPr>
        <p:spPr>
          <a:xfrm>
            <a:off x="286710" y="363474"/>
            <a:ext cx="5057883" cy="120700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100" b="1"/>
              <a:t>Sentiment Analysis – Human Emotional Context</a:t>
            </a:r>
            <a:endParaRPr lang="en-US" sz="3100"/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"/>
          </p:nvPr>
        </p:nvSpPr>
        <p:spPr>
          <a:xfrm>
            <a:off x="286709" y="1591056"/>
            <a:ext cx="5057884" cy="303809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sz="1400" b="1"/>
              <a:t>Tool</a:t>
            </a:r>
            <a:r>
              <a:rPr lang="en-US" sz="1400"/>
              <a:t>: Used </a:t>
            </a:r>
            <a:r>
              <a:rPr lang="en-US" sz="1400" b="1"/>
              <a:t>VADER Sentiment Intensity Analyzer</a:t>
            </a:r>
            <a:r>
              <a:rPr lang="en-US" sz="1400"/>
              <a:t>.</a:t>
            </a:r>
          </a:p>
          <a:p>
            <a:pPr marL="28575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sz="1400" b="1"/>
              <a:t>Threshold</a:t>
            </a:r>
            <a:r>
              <a:rPr lang="en-US" sz="1400"/>
              <a:t>: Headlines with a compound score </a:t>
            </a:r>
            <a:r>
              <a:rPr lang="en-US" sz="1400" b="1"/>
              <a:t>≤ -0.2</a:t>
            </a:r>
            <a:r>
              <a:rPr lang="en-US" sz="1400"/>
              <a:t> were flagged as "negative impact.“</a:t>
            </a:r>
          </a:p>
          <a:p>
            <a:pPr marL="28575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sz="1400" b="1"/>
              <a:t>Behavioral Link</a:t>
            </a:r>
            <a:r>
              <a:rPr lang="en-US" sz="1400"/>
              <a:t>: This allows us to track which AI-human interactions are causing the most anxiety or fear in society</a:t>
            </a:r>
          </a:p>
          <a:p>
            <a:pPr marL="0" lvl="0" indent="-182880" defTabSz="914400">
              <a:spcBef>
                <a:spcPts val="0"/>
              </a:spcBef>
              <a:spcAft>
                <a:spcPts val="1200"/>
              </a:spcAft>
              <a:buSzPct val="85000"/>
              <a:buFont typeface="Wingdings" pitchFamily="2" charset="2"/>
              <a:buChar char="§"/>
            </a:pP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1D861-A7FC-BA72-C096-CEF2CB2336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24" t="-539" r="9841" b="40151"/>
          <a:stretch>
            <a:fillRect/>
          </a:stretch>
        </p:blipFill>
        <p:spPr>
          <a:xfrm>
            <a:off x="6152595" y="1315141"/>
            <a:ext cx="2526882" cy="2290190"/>
          </a:xfrm>
          <a:prstGeom prst="rect">
            <a:avLst/>
          </a:prstGeom>
        </p:spPr>
      </p:pic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060B936-2771-48DC-842C-14EE9318E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DB4EC8B4-4BB2-45C2-A68A-28E36AC10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431D296-F8F1-41C3-A211-E83E243C5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B6A628-BE83-EF8A-AEC8-12E8595092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83346" y="4704588"/>
            <a:ext cx="480060" cy="273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700"/>
              <a:pPr defTabSz="914400"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320EF0-BBCF-4227-8108-92736B729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497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1B1AC-BF3C-8D0B-3CFE-64973BC2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3" y="363474"/>
            <a:ext cx="3556472" cy="1478973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chemeClr val="tx1"/>
                </a:solidFill>
              </a:rPr>
              <a:t>Generating Recommendations (LLM)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5821A2D-F010-4C2B-8819-23281D9C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4571771" cy="5143498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45969-7778-3BAD-7684-0448F27E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6" y="235527"/>
            <a:ext cx="4138405" cy="19347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432177A-AC9F-75E8-1D44-90347C0C9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40" y="2269679"/>
            <a:ext cx="2935939" cy="27743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8EB7E7B-6DB3-54A9-3D24-AEF9E8D27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89714" y="1842447"/>
            <a:ext cx="3556472" cy="27867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LLM Engine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Qwen/Qwen2.5-7B-Instruct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 competition-compliant, open-weights model.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Method: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Employs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deterministic generation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(zero temperature) to ensure concise and accurate results.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Process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28600" marR="0" lvl="0" indent="-2286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Contextual Sampling: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each cluster, the system provides the LLM with the closest headlines to the centroid.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marL="228600" marR="0" lvl="0" indent="-2286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Targeted Prompting: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model is prompted to identify dominant trends and generate exactly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five recommendations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per theme.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Quality Control &amp; Output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Consistency: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fallback mechanism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automatically adds risk-aligned guidance if the model produces fewer than five items.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9793F-2059-EA3D-4295-28EFB9A2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3346" y="4704588"/>
            <a:ext cx="480060" cy="27384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" sz="1100"/>
              <a:pPr>
                <a:spcAft>
                  <a:spcPts val="600"/>
                </a:spcAft>
              </a:pPr>
              <a:t>16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04578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8F1E-FB54-A215-5D11-FF5A3CAC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AI Transforming us all ? - YES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37D48-0261-5440-AF6D-746A3A535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Transforming Across Four Distinct Pathways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00A9F-5FD8-837D-94E6-0855F138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1" y="1740607"/>
            <a:ext cx="7003474" cy="25336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D6AEB-8A29-1746-EACC-F7D1359B29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19100-3D73-0824-7BAF-F38158491F14}"/>
              </a:ext>
            </a:extLst>
          </p:cNvPr>
          <p:cNvSpPr txBox="1"/>
          <p:nvPr/>
        </p:nvSpPr>
        <p:spPr>
          <a:xfrm>
            <a:off x="2819401" y="2826327"/>
            <a:ext cx="1229422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chemeClr val="bg1"/>
                </a:solidFill>
                <a:highlight>
                  <a:srgbClr val="02A654"/>
                </a:highlight>
              </a:rPr>
              <a:t>Job Market Impact</a:t>
            </a:r>
          </a:p>
        </p:txBody>
      </p:sp>
    </p:spTree>
    <p:extLst>
      <p:ext uri="{BB962C8B-B14F-4D97-AF65-F5344CB8AC3E}">
        <p14:creationId xmlns:p14="http://schemas.microsoft.com/office/powerpoint/2010/main" val="3128624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D4A5BDD2-DC3C-5429-B411-80E65C596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t="13629" b="5726"/>
          <a:stretch>
            <a:fillRect/>
          </a:stretch>
        </p:blipFill>
        <p:spPr>
          <a:xfrm>
            <a:off x="0" y="-44009"/>
            <a:ext cx="9143980" cy="5143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861807-902F-570A-02D8-477DD26F6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47" y="121178"/>
            <a:ext cx="8153726" cy="45378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Education: Redefining Learning &amp; Teaching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3D150-6F21-EBB6-EDCE-3821B7584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77695"/>
            <a:ext cx="8222673" cy="3519055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b="1" dirty="0"/>
              <a:t>Size</a:t>
            </a:r>
            <a:r>
              <a:rPr lang="en-US" sz="800" dirty="0"/>
              <a:t>: 447 headlines (12.8%) 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b="1" dirty="0"/>
              <a:t>Behavioral shift</a:t>
            </a:r>
            <a:r>
              <a:rPr lang="en-US" sz="800" dirty="0"/>
              <a:t>: From passive learning → AI-augmented, personalized education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b="1" dirty="0"/>
              <a:t>Validated by class labels 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dirty="0"/>
              <a:t>51.3% Learning, Knowledge &amp; Education 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dirty="0"/>
              <a:t>16.2% Human Roles 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b="1" dirty="0"/>
              <a:t>Behavioral transformation</a:t>
            </a:r>
            <a:r>
              <a:rPr lang="en-US" sz="800" dirty="0"/>
              <a:t>: From → To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700" dirty="0"/>
              <a:t>Students: Independent problem-solving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700" dirty="0"/>
              <a:t>AI-assisted learning - Teachers: Content delivery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700" dirty="0"/>
              <a:t>AI integration facilitation - Assessment: Traditional testing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700" dirty="0"/>
              <a:t>AI-resilient evaluation - Pedagogy: Memorization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700" dirty="0"/>
              <a:t>Critical thinking emphasis - Integrity: Honor system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700" dirty="0"/>
              <a:t>Detection/prevention protocols 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b="1" dirty="0"/>
              <a:t>Key concern</a:t>
            </a:r>
            <a:r>
              <a:rPr lang="en-US" sz="800" dirty="0"/>
              <a:t>: Pedagogical Identity Crisis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650" dirty="0"/>
              <a:t>What is "learning" when AI knows more? How do we assess understanding vs AI capability?</a:t>
            </a:r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b="1" dirty="0">
                <a:highlight>
                  <a:srgbClr val="FFFF00"/>
                </a:highlight>
              </a:rPr>
              <a:t>Recommendations</a:t>
            </a:r>
            <a:r>
              <a:rPr lang="en-US" sz="800" dirty="0"/>
              <a:t>: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dirty="0"/>
              <a:t>Implement AI tools to enhance personalized learning experiences.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dirty="0"/>
              <a:t>Train teachers in AI literacy to effectively integrate technology. </a:t>
            </a:r>
          </a:p>
          <a:p>
            <a:pPr lvl="1" defTabSz="457200">
              <a:lnSpc>
                <a:spcPct val="100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800" dirty="0"/>
              <a:t>Develop policies to prevent academic dishonesty with AI.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772B0-37F7-C0F7-E2A7-815D23A7B1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82C8-0A20-AB71-8C86-E3D39A721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72" y="147152"/>
            <a:ext cx="9067827" cy="572700"/>
          </a:xfrm>
        </p:spPr>
        <p:txBody>
          <a:bodyPr>
            <a:noAutofit/>
          </a:bodyPr>
          <a:lstStyle/>
          <a:p>
            <a:r>
              <a:rPr lang="en-US" sz="2800" dirty="0"/>
              <a:t>Job Market Impact: Economic Anxiety &amp; Adoption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7BE5F-97C2-6EC2-F35F-0C7282AD2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785329"/>
            <a:ext cx="8742245" cy="34195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b="1" dirty="0"/>
              <a:t>Size</a:t>
            </a:r>
            <a:r>
              <a:rPr lang="en-US" sz="1100" dirty="0"/>
              <a:t>: 1,327 headlines (37.9%) — LARGEST CLUSTER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1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b="1" dirty="0"/>
              <a:t>Behavioral shift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dirty="0"/>
              <a:t>From human-only workflows → human-AI collaboration</a:t>
            </a:r>
          </a:p>
          <a:p>
            <a:pPr marL="596900" lvl="1" indent="0">
              <a:lnSpc>
                <a:spcPct val="100000"/>
              </a:lnSpc>
              <a:buNone/>
            </a:pPr>
            <a:endParaRPr lang="en-US" sz="11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b="1" dirty="0"/>
              <a:t>Validated by class labels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dirty="0"/>
              <a:t>26.0% Work, Jobs &amp; Economy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dirty="0"/>
              <a:t>10.3% Sentiment (Positive/Negative Feelings)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1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b="1" dirty="0"/>
              <a:t>Behavioral transformation </a:t>
            </a:r>
            <a:r>
              <a:rPr lang="en-US" sz="1100" dirty="0"/>
              <a:t>From → To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950" dirty="0"/>
              <a:t>Workers: Stable careers → Continuous reskilling/adaptation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950" dirty="0"/>
              <a:t>Businesses: Cautious adoption → "Adopt or die" urgency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950" dirty="0"/>
              <a:t>Investors: Diversified → AI-heavy portfolios (e.g., NVIDIA)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950" dirty="0"/>
              <a:t>Governments: Passive → Active AI infrastructure investment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950" dirty="0"/>
              <a:t>Baseline: Human-only performance → </a:t>
            </a:r>
            <a:r>
              <a:rPr lang="en-US" sz="950" dirty="0" err="1"/>
              <a:t>Human+AI</a:t>
            </a:r>
            <a:r>
              <a:rPr lang="en-US" sz="950" dirty="0"/>
              <a:t> collaboration </a:t>
            </a:r>
          </a:p>
          <a:p>
            <a:pPr marL="596900" lvl="1" indent="0">
              <a:lnSpc>
                <a:spcPct val="100000"/>
              </a:lnSpc>
              <a:buNone/>
            </a:pPr>
            <a:endParaRPr lang="en-US" sz="95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b="1" dirty="0"/>
              <a:t>Key concern</a:t>
            </a:r>
            <a:r>
              <a:rPr lang="en-US" sz="1000" dirty="0"/>
              <a:t>: Productivity Paradigm Shift Expectations shifting from human baseline to </a:t>
            </a:r>
            <a:r>
              <a:rPr lang="en-US" sz="1000" dirty="0" err="1"/>
              <a:t>human+AI</a:t>
            </a:r>
            <a:r>
              <a:rPr lang="en-US" sz="1000" dirty="0"/>
              <a:t> baseline. Workers who don't adapt risk marginalization. Not just about jobs—about identity and value proposition.</a:t>
            </a:r>
          </a:p>
          <a:p>
            <a:pPr marL="114300" indent="0">
              <a:lnSpc>
                <a:spcPct val="100000"/>
              </a:lnSpc>
              <a:buNone/>
            </a:pPr>
            <a:endParaRPr lang="en-US" sz="95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100" b="1" dirty="0">
                <a:highlight>
                  <a:srgbClr val="FFFF00"/>
                </a:highlight>
              </a:rPr>
              <a:t>Recommendations: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Increase government investment in AI infrastructure.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Train workers for AI-driven job roles.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 robust AI governance frameworks.</a:t>
            </a:r>
            <a:br>
              <a:rPr lang="en-US" sz="1000" dirty="0"/>
            </a:br>
            <a:endParaRPr lang="en-US" sz="95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FE2F7-89BD-B1B8-2CEC-2865DE3F3E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00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7178-E575-2581-52DD-62AF073F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6" y="133297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dirty="0"/>
              <a:t>Healthcare: Trust Recalibration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EEDA2-F6F7-B9C6-B9E0-130623A76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46" y="655731"/>
            <a:ext cx="8520600" cy="34164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050" b="1" dirty="0"/>
              <a:t>Size</a:t>
            </a:r>
            <a:r>
              <a:rPr lang="en-US" sz="1050" dirty="0"/>
              <a:t>: 403 headlines (11.5%) — SMALLEST CLUSTER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050" b="1" dirty="0"/>
              <a:t>Behavioral shift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From doctor-centric → AI-augmented medical decision-making</a:t>
            </a:r>
          </a:p>
          <a:p>
            <a:pPr marL="114300" indent="0">
              <a:buNone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050" b="1" dirty="0"/>
              <a:t>Validated by class labels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35.8% Health, Safety &amp; Risk — MOST CONCENTRATED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9.3% Learning, Knowledge &amp; Education (medical training)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050" dirty="0"/>
              <a:t>Highly focused domain ✓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050" b="1" dirty="0"/>
              <a:t>Source profile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67% from peer-reviewed journals (Frontiers, Nature, ScienceDirect)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050" dirty="0"/>
              <a:t>Most evidence-based, scientifically rigorous coverage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050" b="1" dirty="0"/>
              <a:t>Behavioral transformation</a:t>
            </a:r>
            <a:r>
              <a:rPr lang="en-US" sz="1050" dirty="0"/>
              <a:t>: From → To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Patients: Trust doctor alone → Trust AI-assisted diagnosis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Doctors: Sole experts → AI-augmented practitioners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Diagnosis: Experience-based → Predictive model-enhanced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Mental health: Traditional therapy → AI chatbot supplementation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Care model: Reactive treatment → Predictive, preventive care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050" b="1" dirty="0"/>
              <a:t>Key concerns</a:t>
            </a:r>
            <a:r>
              <a:rPr lang="en-US" sz="1050" dirty="0"/>
              <a:t>: Trust Recalibration Healthcare requires profound trust—patients entrust lives to doctors. AI introduces third party. Will patients accept AI diagnoses? Does AI reduce human empathy?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05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050" b="1" dirty="0">
                <a:highlight>
                  <a:srgbClr val="FFFF00"/>
                </a:highlight>
              </a:rPr>
              <a:t>Recommendations</a:t>
            </a:r>
            <a:r>
              <a:rPr lang="en-US" sz="105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1. Enhance mental health care with AI-driven predictive models.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2. Train doctors in AI tools for better patient outcomes.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050" dirty="0"/>
              <a:t>3. Implement systematic reviews to assess AI in healthcare efficacy.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050" dirty="0"/>
          </a:p>
          <a:p>
            <a:pPr marL="114300" indent="0">
              <a:buNone/>
            </a:pPr>
            <a:endParaRPr lang="en-US" sz="1050" dirty="0"/>
          </a:p>
          <a:p>
            <a:pPr marL="596900" lvl="1" indent="0">
              <a:buNone/>
            </a:pPr>
            <a:endParaRPr lang="en-US" sz="10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374D0-22FA-F0A2-D64B-243AC77168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68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3E76-BCF3-EDDA-C9EE-0C7058A0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79" y="69458"/>
            <a:ext cx="4506057" cy="640963"/>
          </a:xfrm>
        </p:spPr>
        <p:txBody>
          <a:bodyPr>
            <a:normAutofit/>
          </a:bodyPr>
          <a:lstStyle/>
          <a:p>
            <a:r>
              <a:rPr lang="en-US" sz="2800" dirty="0"/>
              <a:t>Ethics: Epistemic Crisis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E61F02-26A7-BD96-EF23-CAEC79B06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524" y="782782"/>
            <a:ext cx="7725403" cy="4208318"/>
          </a:xfrm>
        </p:spPr>
        <p:txBody>
          <a:bodyPr>
            <a:noAutofit/>
          </a:bodyPr>
          <a:lstStyle/>
          <a:p>
            <a:r>
              <a:rPr lang="en-US" sz="900" b="1" dirty="0"/>
              <a:t>Size</a:t>
            </a:r>
            <a:r>
              <a:rPr lang="en-US" sz="900" dirty="0"/>
              <a:t>: 1,323 headlines (37.8%) — SECOND LARGEST</a:t>
            </a:r>
          </a:p>
          <a:p>
            <a:r>
              <a:rPr lang="en-US" sz="900" b="1" dirty="0"/>
              <a:t>Behavioral shift</a:t>
            </a:r>
          </a:p>
          <a:p>
            <a:pPr lvl="1"/>
            <a:r>
              <a:rPr lang="en-US" sz="900" dirty="0"/>
              <a:t>From trusting content → constant verification &amp; skepticism</a:t>
            </a:r>
          </a:p>
          <a:p>
            <a:r>
              <a:rPr lang="en-US" sz="900" b="1" dirty="0"/>
              <a:t>Validated by class labels</a:t>
            </a:r>
          </a:p>
          <a:p>
            <a:pPr lvl="1"/>
            <a:r>
              <a:rPr lang="en-US" sz="900" dirty="0"/>
              <a:t>Most diverse cluster (no single dominant dimension):</a:t>
            </a:r>
          </a:p>
          <a:p>
            <a:pPr lvl="2"/>
            <a:r>
              <a:rPr lang="en-US" sz="900" dirty="0"/>
              <a:t>15.4% Technology &amp; Interaction</a:t>
            </a:r>
          </a:p>
          <a:p>
            <a:pPr lvl="2"/>
            <a:r>
              <a:rPr lang="en-US" sz="900" dirty="0"/>
              <a:t>12.0% Society, Ethics &amp; Culture</a:t>
            </a:r>
          </a:p>
          <a:p>
            <a:pPr lvl="2"/>
            <a:r>
              <a:rPr lang="en-US" sz="900" dirty="0"/>
              <a:t>11.2% Routine, Lifestyle &amp; Behavior</a:t>
            </a:r>
          </a:p>
          <a:p>
            <a:r>
              <a:rPr lang="en-US" sz="900" b="1" dirty="0"/>
              <a:t>Behavioral transformation </a:t>
            </a:r>
            <a:r>
              <a:rPr lang="en-US" sz="900" dirty="0"/>
              <a:t>From → To </a:t>
            </a:r>
          </a:p>
          <a:p>
            <a:pPr lvl="1"/>
            <a:r>
              <a:rPr lang="en-US" sz="900" dirty="0"/>
              <a:t>Content consumers: Trust visual/audio → "Deepfake skepticism" </a:t>
            </a:r>
          </a:p>
          <a:p>
            <a:pPr lvl="1"/>
            <a:r>
              <a:rPr lang="en-US" sz="900" dirty="0"/>
              <a:t>Creators: Human-only work → Fighting AI replication </a:t>
            </a:r>
          </a:p>
          <a:p>
            <a:pPr lvl="1"/>
            <a:r>
              <a:rPr lang="en-US" sz="900" dirty="0"/>
              <a:t>Citizens: Shared reality → Fragmented truth </a:t>
            </a:r>
          </a:p>
          <a:p>
            <a:pPr lvl="1"/>
            <a:r>
              <a:rPr lang="en-US" sz="900" dirty="0"/>
              <a:t>Regulators: Clear frameworks → Governance lag </a:t>
            </a:r>
          </a:p>
          <a:p>
            <a:pPr lvl="1"/>
            <a:r>
              <a:rPr lang="en-US" sz="900" dirty="0"/>
              <a:t>Society: Baseline trust → Constant verification mindset</a:t>
            </a:r>
          </a:p>
          <a:p>
            <a:r>
              <a:rPr lang="en-US" sz="900" b="1" dirty="0"/>
              <a:t>Key concern:</a:t>
            </a:r>
            <a:r>
              <a:rPr lang="en-US" sz="900" dirty="0"/>
              <a:t> </a:t>
            </a:r>
          </a:p>
          <a:p>
            <a:pPr lvl="1"/>
            <a:r>
              <a:rPr lang="en-US" sz="900" dirty="0"/>
              <a:t>Epistemic Crisis Loss of ability to distinguish real from fake. Erosion of shared reality about truth. When we can't agree on facts, democratic deliberation, justice, social cohesion collapse.</a:t>
            </a:r>
          </a:p>
          <a:p>
            <a:r>
              <a:rPr lang="en-US" sz="900" b="1" dirty="0">
                <a:highlight>
                  <a:srgbClr val="FFFF00"/>
                </a:highlight>
              </a:rPr>
              <a:t>Recommendations</a:t>
            </a:r>
            <a:r>
              <a:rPr lang="en-US" sz="900" dirty="0"/>
              <a:t>: </a:t>
            </a:r>
          </a:p>
          <a:p>
            <a:pPr lvl="1"/>
            <a:r>
              <a:rPr lang="en-US" sz="900" dirty="0"/>
              <a:t>Enhance content creation tools to prevent AI theft. </a:t>
            </a:r>
          </a:p>
          <a:p>
            <a:pPr lvl="1"/>
            <a:r>
              <a:rPr lang="en-US" sz="900" dirty="0"/>
              <a:t>Train AI chatbots for ethical job assistance. </a:t>
            </a:r>
          </a:p>
          <a:p>
            <a:pPr lvl="1"/>
            <a:r>
              <a:rPr lang="en-US" sz="900" dirty="0"/>
              <a:t>Develop agentic AI for responsible content generation.</a:t>
            </a:r>
          </a:p>
          <a:p>
            <a:pPr lvl="1"/>
            <a:endParaRPr lang="en-US" sz="900" dirty="0"/>
          </a:p>
          <a:p>
            <a:pPr marL="205740" lvl="1" indent="0">
              <a:buNone/>
            </a:pPr>
            <a:endParaRPr lang="en-US" sz="9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669B1-3FE9-14F5-0334-153EA0D57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07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Rectangle 3144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010209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7" name="Rectangle 3146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3224772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9" name="Rectangle 3148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51" name="Group 3150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3051692"/>
            <a:ext cx="810678" cy="810676"/>
            <a:chOff x="9685338" y="4460675"/>
            <a:chExt cx="1080904" cy="1080902"/>
          </a:xfrm>
        </p:grpSpPr>
        <p:sp>
          <p:nvSpPr>
            <p:cNvPr id="3152" name="Oval 3151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53" name="Oval 3152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3155" name="Rectangle 3154">
            <a:extLst>
              <a:ext uri="{FF2B5EF4-FFF2-40B4-BE49-F238E27FC236}">
                <a16:creationId xmlns:a16="http://schemas.microsoft.com/office/drawing/2014/main" id="{9818A645-2267-4F2E-9342-266D4D1DC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4D78413-546F-6885-3B4E-56CA8CD7B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178" y="125423"/>
            <a:ext cx="3735832" cy="263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57" name="Rectangle 3156">
            <a:extLst>
              <a:ext uri="{FF2B5EF4-FFF2-40B4-BE49-F238E27FC236}">
                <a16:creationId xmlns:a16="http://schemas.microsoft.com/office/drawing/2014/main" id="{CD60390C-0E4C-4682-8246-AFA2E4985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878094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59" name="Rectangle 3158">
            <a:extLst>
              <a:ext uri="{FF2B5EF4-FFF2-40B4-BE49-F238E27FC236}">
                <a16:creationId xmlns:a16="http://schemas.microsoft.com/office/drawing/2014/main" id="{CEBA87F4-FB8A-4D91-B3F3-DFA78E0CC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986179"/>
            <a:ext cx="7667244" cy="1558752"/>
          </a:xfrm>
          <a:prstGeom prst="rect">
            <a:avLst/>
          </a:prstGeom>
          <a:blipFill dpi="0" rotWithShape="1">
            <a:blip r:embed="rId2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646FD-77FB-C5AE-D527-057B64C2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405" y="3209184"/>
            <a:ext cx="6390116" cy="12168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80000"/>
              </a:lnSpc>
              <a:spcBef>
                <a:spcPct val="0"/>
              </a:spcBef>
            </a:pPr>
            <a:r>
              <a:rPr lang="en-US" sz="2800" kern="1200" cap="all" baseline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Which News Outlets Frame AI Differently?</a:t>
            </a:r>
            <a:br>
              <a:rPr lang="en-US" sz="2800" kern="1200" cap="all" baseline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</a:br>
            <a:endParaRPr lang="en-US" sz="2800" kern="1200" cap="all" baseline="0" dirty="0">
              <a:blipFill dpi="0" rotWithShape="1">
                <a:blip r:embed="rId4"/>
                <a:srcRect/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8DB1FF2-67E6-3E6A-DADB-05CFC690C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54010" y="813958"/>
            <a:ext cx="5200886" cy="192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61" name="Rectangle 3160">
            <a:extLst>
              <a:ext uri="{FF2B5EF4-FFF2-40B4-BE49-F238E27FC236}">
                <a16:creationId xmlns:a16="http://schemas.microsoft.com/office/drawing/2014/main" id="{D012A90F-45C2-4C9B-BAF6-9CE1F546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596502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626F12-A551-05DE-69AF-83641B372D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27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CDD2-6FAE-B868-09A2-CCAF7877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100">
                <a:solidFill>
                  <a:srgbClr val="000000"/>
                </a:solidFill>
              </a:rPr>
              <a:t>Which News Outlets Frame AI Differently?</a:t>
            </a:r>
            <a:br>
              <a:rPr lang="en-US" sz="3100">
                <a:solidFill>
                  <a:srgbClr val="000000"/>
                </a:solidFill>
              </a:rPr>
            </a:br>
            <a:endParaRPr lang="en-US" sz="3100">
              <a:solidFill>
                <a:srgbClr val="000000"/>
              </a:solidFill>
            </a:endParaRPr>
          </a:p>
          <a:p>
            <a:endParaRPr lang="en-US">
              <a:latin typeface="Rockwell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3614F-6C09-333C-DFA1-3F77A0B30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610627" cy="354600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Graph 1 — News Source Landscape: Volume vs. Sentiment (Bubble size = % negative)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X-axis:</a:t>
            </a:r>
            <a:r>
              <a:rPr lang="en-US" dirty="0">
                <a:ea typeface="+mn-lt"/>
                <a:cs typeface="+mn-lt"/>
              </a:rPr>
              <a:t> number of articles per source (</a:t>
            </a:r>
            <a:r>
              <a:rPr lang="en-US" b="1" dirty="0">
                <a:ea typeface="+mn-lt"/>
                <a:cs typeface="+mn-lt"/>
              </a:rPr>
              <a:t>coverage volume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Y-axis:</a:t>
            </a:r>
            <a:r>
              <a:rPr lang="en-US" dirty="0">
                <a:ea typeface="+mn-lt"/>
                <a:cs typeface="+mn-lt"/>
              </a:rPr>
              <a:t> average sentiment (</a:t>
            </a:r>
            <a:r>
              <a:rPr lang="en-US" b="1" dirty="0">
                <a:ea typeface="+mn-lt"/>
                <a:cs typeface="+mn-lt"/>
              </a:rPr>
              <a:t>above 0 = more positive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below 0 = more negative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Bubble size: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% of that source’s headlines that are negative</a:t>
            </a:r>
            <a:r>
              <a:rPr lang="en-US" dirty="0">
                <a:ea typeface="+mn-lt"/>
                <a:cs typeface="+mn-lt"/>
              </a:rPr>
              <a:t> (bigger = more negative share)</a:t>
            </a: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b="1" dirty="0">
              <a:ea typeface="+mn-lt"/>
              <a:cs typeface="+mn-lt"/>
            </a:endParaRP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Key takeaway:</a:t>
            </a:r>
            <a:r>
              <a:rPr lang="en-US" dirty="0">
                <a:ea typeface="+mn-lt"/>
                <a:cs typeface="+mn-lt"/>
              </a:rPr>
              <a:t> Most sources cluster around </a:t>
            </a:r>
            <a:r>
              <a:rPr lang="en-US" b="1" dirty="0">
                <a:ea typeface="+mn-lt"/>
                <a:cs typeface="+mn-lt"/>
              </a:rPr>
              <a:t>moderate volume + near-neutral sentiment</a:t>
            </a:r>
            <a:r>
              <a:rPr lang="en-US" dirty="0">
                <a:ea typeface="+mn-lt"/>
                <a:cs typeface="+mn-lt"/>
              </a:rPr>
              <a:t>, but a few stand out: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ea typeface="+mn-lt"/>
                <a:cs typeface="+mn-lt"/>
              </a:rPr>
              <a:t>High-volume, near-neutral</a:t>
            </a:r>
            <a:r>
              <a:rPr lang="en-US" sz="1600" dirty="0">
                <a:ea typeface="+mn-lt"/>
                <a:cs typeface="+mn-lt"/>
              </a:rPr>
              <a:t> example: Forbes (lots of articles but sentiment ~neutral)</a:t>
            </a:r>
            <a:endParaRPr lang="en-US" sz="1600" dirty="0"/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ea typeface="+mn-lt"/>
                <a:cs typeface="+mn-lt"/>
              </a:rPr>
              <a:t>More negative framing</a:t>
            </a:r>
            <a:r>
              <a:rPr lang="en-US" sz="1600" dirty="0">
                <a:ea typeface="+mn-lt"/>
                <a:cs typeface="+mn-lt"/>
              </a:rPr>
              <a:t> example: Futurism (lower sentiment + larger negative share)</a:t>
            </a:r>
            <a:endParaRPr lang="en-US" sz="1600" dirty="0"/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ea typeface="+mn-lt"/>
                <a:cs typeface="+mn-lt"/>
              </a:rPr>
              <a:t>More positive framing</a:t>
            </a:r>
            <a:r>
              <a:rPr lang="en-US" sz="1600" dirty="0">
                <a:ea typeface="+mn-lt"/>
                <a:cs typeface="+mn-lt"/>
              </a:rPr>
              <a:t> example: Frontiers (higher sentiment)</a:t>
            </a:r>
            <a:endParaRPr lang="en-US" sz="1600" dirty="0"/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dirty="0"/>
              <a:t>Graph 2 — 15 Most Negative vs 15 Most Positive News Sources (% Negative Headlines)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These charts rank sources by </a:t>
            </a:r>
            <a:r>
              <a:rPr lang="en-US" b="1" dirty="0">
                <a:ea typeface="+mn-lt"/>
                <a:cs typeface="+mn-lt"/>
              </a:rPr>
              <a:t>how often their headlines are negative</a:t>
            </a:r>
            <a:r>
              <a:rPr lang="en-US" dirty="0">
                <a:ea typeface="+mn-lt"/>
                <a:cs typeface="+mn-lt"/>
              </a:rPr>
              <a:t> (percentage), not by total volume.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Most negative sources (left):</a:t>
            </a:r>
            <a:r>
              <a:rPr lang="en-US" dirty="0">
                <a:ea typeface="+mn-lt"/>
                <a:cs typeface="+mn-lt"/>
              </a:rPr>
              <a:t> higher % negative → more risk/fear framing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Top examples: Futurism (~60%), Insurance Business America (~50%)</a:t>
            </a:r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Most positive sources (right):</a:t>
            </a:r>
            <a:r>
              <a:rPr lang="en-US" dirty="0">
                <a:ea typeface="+mn-lt"/>
                <a:cs typeface="+mn-lt"/>
              </a:rPr>
              <a:t> lowest % negative → more neutral/constructive framing</a:t>
            </a: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Examples with very low % negative: The Motley Fool, Business Wire, Microsoft Source</a:t>
            </a:r>
          </a:p>
          <a:p>
            <a:pPr lvl="1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Main point:</a:t>
            </a:r>
            <a:r>
              <a:rPr lang="en-US" dirty="0">
                <a:ea typeface="+mn-lt"/>
                <a:cs typeface="+mn-lt"/>
              </a:rPr>
              <a:t> Sentiment around AI </a:t>
            </a:r>
            <a:r>
              <a:rPr lang="en-US" b="1" dirty="0">
                <a:ea typeface="+mn-lt"/>
                <a:cs typeface="+mn-lt"/>
              </a:rPr>
              <a:t>depends heavily on the outlet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dirty="0">
                <a:ea typeface="+mn-lt"/>
                <a:cs typeface="+mn-lt"/>
              </a:rPr>
              <a:t>some sources consistently frame AI as </a:t>
            </a:r>
            <a:r>
              <a:rPr lang="en-US" b="1" dirty="0">
                <a:ea typeface="+mn-lt"/>
                <a:cs typeface="+mn-lt"/>
              </a:rPr>
              <a:t>risk</a:t>
            </a:r>
            <a:r>
              <a:rPr lang="en-US" dirty="0">
                <a:ea typeface="+mn-lt"/>
                <a:cs typeface="+mn-lt"/>
              </a:rPr>
              <a:t>, others as </a:t>
            </a:r>
            <a:r>
              <a:rPr lang="en-US" b="1" dirty="0">
                <a:ea typeface="+mn-lt"/>
                <a:cs typeface="+mn-lt"/>
              </a:rPr>
              <a:t>opportunity/innovation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Clr>
                <a:srgbClr val="9E3611"/>
              </a:buClr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40521-C656-3FCA-3E8D-8F65313E6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8206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3" name="Group 4102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4104" name="Oval 4103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Oval 4104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48089"/>
            <a:ext cx="7667244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51464"/>
            <a:ext cx="7667244" cy="1039405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1528991"/>
            <a:ext cx="7667244" cy="60512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CB606-17B3-B32F-D2A7-F6D0A9C7D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dirty="0"/>
              <a:t>PREDEFINED CLASS LABEL DEEP DIVE</a:t>
            </a:r>
            <a:endParaRPr lang="en-US" sz="5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961D660-EBA4-9D30-BDE6-4668EE9C9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4" r="8931" b="-4"/>
          <a:stretch>
            <a:fillRect/>
          </a:stretch>
        </p:blipFill>
        <p:spPr bwMode="auto">
          <a:xfrm>
            <a:off x="83452" y="1698776"/>
            <a:ext cx="3816600" cy="293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Oval 4114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4672260"/>
            <a:ext cx="342900" cy="3429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4117" name="Oval 4116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4694155"/>
            <a:ext cx="299110" cy="299111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90F7AA-2659-C1DB-0F91-CABB7101FC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9E8FA-CB3F-6D5C-EC12-05D615DFC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322" y="1698776"/>
            <a:ext cx="4061006" cy="309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71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87C9-F3D5-A401-84B5-FF8D8E31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5407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PREDEFINED CLASS LABEL DEEP DIVE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09175-36E3-BE25-016C-84B29FE7A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50442"/>
            <a:ext cx="8889540" cy="368911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These two visuals summarize how AI is framed as a force that changes human behavior—both overall and by theme.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Graph 1 (Bar Chart)</a:t>
            </a:r>
            <a:r>
              <a:rPr lang="en-US" dirty="0">
                <a:ea typeface="+mn-lt"/>
                <a:cs typeface="+mn-lt"/>
              </a:rPr>
              <a:t> shows the </a:t>
            </a:r>
            <a:r>
              <a:rPr lang="en-US" b="1" dirty="0">
                <a:ea typeface="+mn-lt"/>
                <a:cs typeface="+mn-lt"/>
              </a:rPr>
              <a:t>overall frequency</a:t>
            </a:r>
            <a:r>
              <a:rPr lang="en-US" dirty="0">
                <a:ea typeface="+mn-lt"/>
                <a:cs typeface="+mn-lt"/>
              </a:rPr>
              <a:t> of behavioral dimensions mentioned across the dataset. The dominant impacts are </a:t>
            </a:r>
            <a:r>
              <a:rPr lang="en-US" b="1" dirty="0">
                <a:ea typeface="+mn-lt"/>
                <a:cs typeface="+mn-lt"/>
              </a:rPr>
              <a:t>Work/Jobs/Economy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Learning/Education</a:t>
            </a:r>
            <a:r>
              <a:rPr lang="en-US" dirty="0">
                <a:ea typeface="+mn-lt"/>
                <a:cs typeface="+mn-lt"/>
              </a:rPr>
              <a:t>, followed by </a:t>
            </a:r>
            <a:r>
              <a:rPr lang="en-US" b="1" dirty="0">
                <a:ea typeface="+mn-lt"/>
                <a:cs typeface="+mn-lt"/>
              </a:rPr>
              <a:t>Technology &amp; Interaction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Society/Ethics/Culture</a:t>
            </a:r>
            <a:r>
              <a:rPr lang="en-US" dirty="0">
                <a:ea typeface="+mn-lt"/>
                <a:cs typeface="+mn-lt"/>
              </a:rPr>
              <a:t>—while </a:t>
            </a:r>
            <a:r>
              <a:rPr lang="en-US" b="1" dirty="0">
                <a:ea typeface="+mn-lt"/>
                <a:cs typeface="+mn-lt"/>
              </a:rPr>
              <a:t>emotion and relationships</a:t>
            </a:r>
            <a:r>
              <a:rPr lang="en-US" dirty="0">
                <a:ea typeface="+mn-lt"/>
                <a:cs typeface="+mn-lt"/>
              </a:rPr>
              <a:t> appear much less often.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Graph 2 (Heatmap)</a:t>
            </a:r>
            <a:r>
              <a:rPr lang="en-US" dirty="0">
                <a:ea typeface="+mn-lt"/>
                <a:cs typeface="+mn-lt"/>
              </a:rPr>
              <a:t> breaks that same behavioral impact down by our </a:t>
            </a:r>
            <a:r>
              <a:rPr lang="en-US" b="1" dirty="0">
                <a:ea typeface="+mn-lt"/>
                <a:cs typeface="+mn-lt"/>
              </a:rPr>
              <a:t>4 AI impact clusters</a:t>
            </a:r>
            <a:r>
              <a:rPr lang="en-US" dirty="0">
                <a:ea typeface="+mn-lt"/>
                <a:cs typeface="+mn-lt"/>
              </a:rPr>
              <a:t> (Education, Job Market, Healthcare, Ethics). It reveals that </a:t>
            </a:r>
            <a:r>
              <a:rPr lang="en-US" b="1" dirty="0">
                <a:ea typeface="+mn-lt"/>
                <a:cs typeface="+mn-lt"/>
              </a:rPr>
              <a:t>each cluster has a distinct “behavioral signature”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Education →</a:t>
            </a:r>
            <a:r>
              <a:rPr lang="en-US" dirty="0">
                <a:ea typeface="+mn-lt"/>
                <a:cs typeface="+mn-lt"/>
              </a:rPr>
              <a:t> concentrated in </a:t>
            </a:r>
            <a:r>
              <a:rPr lang="en-US" i="1" dirty="0">
                <a:ea typeface="+mn-lt"/>
                <a:cs typeface="+mn-lt"/>
              </a:rPr>
              <a:t>Learning &amp; Education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i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Job Market →</a:t>
            </a:r>
            <a:r>
              <a:rPr lang="en-US" dirty="0">
                <a:ea typeface="+mn-lt"/>
                <a:cs typeface="+mn-lt"/>
              </a:rPr>
              <a:t> concentrated in </a:t>
            </a:r>
            <a:r>
              <a:rPr lang="en-US" i="1" dirty="0">
                <a:ea typeface="+mn-lt"/>
                <a:cs typeface="+mn-lt"/>
              </a:rPr>
              <a:t>Work/Jobs/Economy</a:t>
            </a:r>
            <a:r>
              <a:rPr lang="en-US" dirty="0">
                <a:ea typeface="+mn-lt"/>
                <a:cs typeface="+mn-lt"/>
              </a:rPr>
              <a:t> (plus noticeable sentiment)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Healthcare →</a:t>
            </a:r>
            <a:r>
              <a:rPr lang="en-US" dirty="0">
                <a:ea typeface="+mn-lt"/>
                <a:cs typeface="+mn-lt"/>
              </a:rPr>
              <a:t> concentrated in </a:t>
            </a:r>
            <a:r>
              <a:rPr lang="en-US" i="1" dirty="0">
                <a:ea typeface="+mn-lt"/>
                <a:cs typeface="+mn-lt"/>
              </a:rPr>
              <a:t>Health/Safety/Risk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i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Ethics →</a:t>
            </a:r>
            <a:r>
              <a:rPr lang="en-US" dirty="0">
                <a:ea typeface="+mn-lt"/>
                <a:cs typeface="+mn-lt"/>
              </a:rPr>
              <a:t> distributed across </a:t>
            </a:r>
            <a:r>
              <a:rPr lang="en-US" i="1" dirty="0">
                <a:ea typeface="+mn-lt"/>
                <a:cs typeface="+mn-lt"/>
              </a:rPr>
              <a:t>Technology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Society/Ethics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i="1" dirty="0">
                <a:ea typeface="+mn-lt"/>
                <a:cs typeface="+mn-lt"/>
              </a:rPr>
              <a:t>Routine/Lifestyle</a:t>
            </a:r>
            <a:endParaRPr lang="en-US" i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>
              <a:ea typeface="+mn-lt"/>
              <a:cs typeface="+mn-lt"/>
            </a:endParaRPr>
          </a:p>
          <a:p>
            <a:pPr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Together, the charts show both the “big picture” (what AI affects most overall) and the “structure” (which impacts dominate within each theme).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0584-A69D-896D-776F-17A9AC3A0C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51105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E7EE-C691-C27E-0FFD-A84F7F14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is the fear concentrated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588F3-587E-77BD-B66E-B8D90AAB7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789B4-4109-72FE-63FB-43BA5FE3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94" y="1093063"/>
            <a:ext cx="6969908" cy="405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41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842D-633B-3B52-43D5-4C892446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700">
                <a:solidFill>
                  <a:srgbClr val="000000"/>
                </a:solidFill>
                <a:latin typeface="Rockwell"/>
              </a:rPr>
              <a:t>Percentage of Negative Headlines per Cluster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3335E-7ED0-BFD2-A6A4-E34F53FD3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This chart shows </a:t>
            </a:r>
            <a:r>
              <a:rPr lang="en-US" b="1" dirty="0">
                <a:ea typeface="+mn-lt"/>
                <a:cs typeface="+mn-lt"/>
              </a:rPr>
              <a:t>how often headlines are negative</a:t>
            </a:r>
            <a:r>
              <a:rPr lang="en-US" dirty="0">
                <a:ea typeface="+mn-lt"/>
                <a:cs typeface="+mn-lt"/>
              </a:rPr>
              <a:t> within each AI impact cluster.</a:t>
            </a:r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Healthcare is the most negative (19.4%)</a:t>
            </a:r>
            <a:r>
              <a:rPr lang="en-US" dirty="0">
                <a:ea typeface="+mn-lt"/>
                <a:cs typeface="+mn-lt"/>
              </a:rPr>
              <a:t>, meaning AI is most often framed as </a:t>
            </a:r>
            <a:r>
              <a:rPr lang="en-US" b="1" dirty="0">
                <a:ea typeface="+mn-lt"/>
                <a:cs typeface="+mn-lt"/>
              </a:rPr>
              <a:t>risk/harm</a:t>
            </a:r>
            <a:r>
              <a:rPr lang="en-US" dirty="0">
                <a:ea typeface="+mn-lt"/>
                <a:cs typeface="+mn-lt"/>
              </a:rPr>
              <a:t> in medical contexts.</a:t>
            </a:r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Ethics (16.8%)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Job Market Impact (16.4%)</a:t>
            </a:r>
            <a:r>
              <a:rPr lang="en-US" dirty="0">
                <a:ea typeface="+mn-lt"/>
                <a:cs typeface="+mn-lt"/>
              </a:rPr>
              <a:t> are also frequently negative, reflecting </a:t>
            </a:r>
            <a:r>
              <a:rPr lang="en-US" b="1" dirty="0">
                <a:ea typeface="+mn-lt"/>
                <a:cs typeface="+mn-lt"/>
              </a:rPr>
              <a:t>trust/regulation concerns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job-displacement anxiety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00000"/>
              </a:lnSpc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Education is the least negative (8.7%)</a:t>
            </a:r>
            <a:r>
              <a:rPr lang="en-US" dirty="0">
                <a:ea typeface="+mn-lt"/>
                <a:cs typeface="+mn-lt"/>
              </a:rPr>
              <a:t>, suggesting AI in education is framed </a:t>
            </a:r>
            <a:r>
              <a:rPr lang="en-US" b="1" dirty="0">
                <a:ea typeface="+mn-lt"/>
                <a:cs typeface="+mn-lt"/>
              </a:rPr>
              <a:t>more positively/constructively</a:t>
            </a:r>
            <a:r>
              <a:rPr lang="en-US" dirty="0">
                <a:ea typeface="+mn-lt"/>
                <a:cs typeface="+mn-lt"/>
              </a:rPr>
              <a:t> than the other themes.</a:t>
            </a:r>
            <a:endParaRPr lang="en-US" dirty="0"/>
          </a:p>
          <a:p>
            <a:pPr>
              <a:buClr>
                <a:srgbClr val="9E3611"/>
              </a:buClr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C4270-5569-8D1A-C5B1-22B4A57AD1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9678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78E3E1-BBBA-4058-AAEB-714F04B0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6860FA5-CE2B-4019-8FD1-031D7D84E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92DF474-2C37-4DC7-B889-E88EAADE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7232" y="0"/>
            <a:ext cx="3266767" cy="5143499"/>
          </a:xfrm>
          <a:prstGeom prst="rect">
            <a:avLst/>
          </a:prstGeom>
          <a:blipFill dpi="0" rotWithShape="1">
            <a:blip r:embed="rId4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17A1C-2640-CBC5-4249-E144D3EF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262" y="363474"/>
            <a:ext cx="2658026" cy="1207008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400" dirty="0"/>
              <a:t>Behavioral Dimensions Profiles by cluster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31767-CB6E-A0BF-8891-261E263DB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7263" y="1591056"/>
            <a:ext cx="2658025" cy="3038094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 defTabSz="914400">
              <a:buSzPct val="85000"/>
              <a:buFont typeface="Wingdings" pitchFamily="2" charset="2"/>
              <a:buChar char="§"/>
            </a:pPr>
            <a:endParaRPr lang="en-US" sz="12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3E2E7-98EF-E5D8-0B44-588F103CBC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83346" y="4704588"/>
            <a:ext cx="480060" cy="273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700" smtClean="0"/>
              <a:pPr lvl="0" indent="0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28</a:t>
            </a:fld>
            <a:endParaRPr lang="en-US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BD60A-31BF-2993-137F-49C79CB1F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8" y="61034"/>
            <a:ext cx="5772431" cy="508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3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>
                <a:solidFill>
                  <a:srgbClr val="000000"/>
                </a:solidFill>
                <a:latin typeface="Rockwell"/>
              </a:rPr>
              <a:t>Behavioral Dimension Profiles by Cluster (Slide Explanation)</a:t>
            </a:r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body" idx="1"/>
          </p:nvPr>
        </p:nvSpPr>
        <p:spPr>
          <a:xfrm>
            <a:off x="311699" y="1069247"/>
            <a:ext cx="8652191" cy="3114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None/>
            </a:pPr>
            <a:endParaRPr lang="en-US" dirty="0"/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What this does:</a:t>
            </a:r>
            <a:r>
              <a:rPr lang="en-US" dirty="0">
                <a:ea typeface="+mn-lt"/>
                <a:cs typeface="+mn-lt"/>
              </a:rPr>
              <a:t> It combines the </a:t>
            </a:r>
            <a:r>
              <a:rPr lang="en-US" b="1" dirty="0">
                <a:ea typeface="+mn-lt"/>
                <a:cs typeface="+mn-lt"/>
              </a:rPr>
              <a:t>overall behavioral dimension distribution</a:t>
            </a:r>
            <a:r>
              <a:rPr lang="en-US" dirty="0">
                <a:ea typeface="+mn-lt"/>
                <a:cs typeface="+mn-lt"/>
              </a:rPr>
              <a:t> (top chart) with </a:t>
            </a:r>
            <a:r>
              <a:rPr lang="en-US" b="1" dirty="0">
                <a:ea typeface="+mn-lt"/>
                <a:cs typeface="+mn-lt"/>
              </a:rPr>
              <a:t>cluster-specific “profiles”</a:t>
            </a:r>
            <a:r>
              <a:rPr lang="en-US" dirty="0">
                <a:ea typeface="+mn-lt"/>
                <a:cs typeface="+mn-lt"/>
              </a:rPr>
              <a:t> (four charts below) to show </a:t>
            </a:r>
            <a:r>
              <a:rPr lang="en-US" i="1" dirty="0">
                <a:ea typeface="+mn-lt"/>
                <a:cs typeface="+mn-lt"/>
              </a:rPr>
              <a:t>what AI is affecting most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i="1" dirty="0">
                <a:ea typeface="+mn-lt"/>
                <a:cs typeface="+mn-lt"/>
              </a:rPr>
              <a:t>how that differs by theme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Overall pattern (top chart):</a:t>
            </a:r>
            <a:r>
              <a:rPr lang="en-US" dirty="0">
                <a:ea typeface="+mn-lt"/>
                <a:cs typeface="+mn-lt"/>
              </a:rPr>
              <a:t> AI headlines focus most on </a:t>
            </a:r>
            <a:r>
              <a:rPr lang="en-US" b="1" dirty="0">
                <a:ea typeface="+mn-lt"/>
                <a:cs typeface="+mn-lt"/>
              </a:rPr>
              <a:t>Work/Jobs/Economy (14.8%)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Learning/Education (12.5%)</a:t>
            </a:r>
            <a:r>
              <a:rPr lang="en-US" dirty="0">
                <a:ea typeface="+mn-lt"/>
                <a:cs typeface="+mn-lt"/>
              </a:rPr>
              <a:t>, then </a:t>
            </a:r>
            <a:r>
              <a:rPr lang="en-US" b="1" dirty="0">
                <a:ea typeface="+mn-lt"/>
                <a:cs typeface="+mn-lt"/>
              </a:rPr>
              <a:t>Technology &amp; Interaction (10.6%)</a:t>
            </a:r>
            <a:r>
              <a:rPr lang="en-US" dirty="0">
                <a:ea typeface="+mn-lt"/>
                <a:cs typeface="+mn-lt"/>
              </a:rPr>
              <a:t>. The least emphasized are </a:t>
            </a:r>
            <a:r>
              <a:rPr lang="en-US" b="1" dirty="0">
                <a:ea typeface="+mn-lt"/>
                <a:cs typeface="+mn-lt"/>
              </a:rPr>
              <a:t>Emotion/Well-being (3.7%)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Social Relationships (4.8%)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Cluster fingerprints (bottom charts):</a:t>
            </a:r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Education (447 headlines):</a:t>
            </a:r>
            <a:r>
              <a:rPr lang="en-US" dirty="0">
                <a:ea typeface="+mn-lt"/>
                <a:cs typeface="+mn-lt"/>
              </a:rPr>
              <a:t> overwhelmingly </a:t>
            </a:r>
            <a:r>
              <a:rPr lang="en-US" b="1" dirty="0">
                <a:ea typeface="+mn-lt"/>
                <a:cs typeface="+mn-lt"/>
              </a:rPr>
              <a:t>Learning/Education (51.3%)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b="1" dirty="0">
                <a:ea typeface="+mn-lt"/>
                <a:cs typeface="+mn-lt"/>
              </a:rPr>
              <a:t>Human Roles (16.2%)</a:t>
            </a:r>
            <a:r>
              <a:rPr lang="en-US" dirty="0">
                <a:ea typeface="+mn-lt"/>
                <a:cs typeface="+mn-lt"/>
              </a:rPr>
              <a:t> → AI framed as reshaping teaching/learning roles.</a:t>
            </a:r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Job Market Impact (1327):</a:t>
            </a:r>
            <a:r>
              <a:rPr lang="en-US" dirty="0">
                <a:ea typeface="+mn-lt"/>
                <a:cs typeface="+mn-lt"/>
              </a:rPr>
              <a:t> led by </a:t>
            </a:r>
            <a:r>
              <a:rPr lang="en-US" b="1" dirty="0">
                <a:ea typeface="+mn-lt"/>
                <a:cs typeface="+mn-lt"/>
              </a:rPr>
              <a:t>Work/Jobs/Economy (26.0%)</a:t>
            </a:r>
            <a:r>
              <a:rPr lang="en-US" dirty="0">
                <a:ea typeface="+mn-lt"/>
                <a:cs typeface="+mn-lt"/>
              </a:rPr>
              <a:t>, with </a:t>
            </a:r>
            <a:r>
              <a:rPr lang="en-US" b="1" dirty="0">
                <a:ea typeface="+mn-lt"/>
                <a:cs typeface="+mn-lt"/>
              </a:rPr>
              <a:t>Sentiment (10.3%)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b="1" dirty="0">
                <a:ea typeface="+mn-lt"/>
                <a:cs typeface="+mn-lt"/>
              </a:rPr>
              <a:t>Routine (10.3%)</a:t>
            </a:r>
            <a:r>
              <a:rPr lang="en-US" dirty="0">
                <a:ea typeface="+mn-lt"/>
                <a:cs typeface="+mn-lt"/>
              </a:rPr>
              <a:t> → jobs + anxiety + day-to-day workflow change.</a:t>
            </a:r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Healthcare (403):</a:t>
            </a:r>
            <a:r>
              <a:rPr lang="en-US" dirty="0">
                <a:ea typeface="+mn-lt"/>
                <a:cs typeface="+mn-lt"/>
              </a:rPr>
              <a:t> dominated by </a:t>
            </a:r>
            <a:r>
              <a:rPr lang="en-US" b="1" dirty="0">
                <a:ea typeface="+mn-lt"/>
                <a:cs typeface="+mn-lt"/>
              </a:rPr>
              <a:t>Health/Safety/Risk (35.8%)</a:t>
            </a:r>
            <a:r>
              <a:rPr lang="en-US" dirty="0">
                <a:ea typeface="+mn-lt"/>
                <a:cs typeface="+mn-lt"/>
              </a:rPr>
              <a:t> → strongest “high-stakes risk” framing.</a:t>
            </a:r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Ethics (1323):</a:t>
            </a:r>
            <a:r>
              <a:rPr lang="en-US" dirty="0">
                <a:ea typeface="+mn-lt"/>
                <a:cs typeface="+mn-lt"/>
              </a:rPr>
              <a:t> most distributed; top are </a:t>
            </a:r>
            <a:r>
              <a:rPr lang="en-US" b="1" dirty="0">
                <a:ea typeface="+mn-lt"/>
                <a:cs typeface="+mn-lt"/>
              </a:rPr>
              <a:t>Technology &amp; Interaction (15.4%)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Society/Ethics (12.0%)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Routine (11.2%)</a:t>
            </a:r>
            <a:r>
              <a:rPr lang="en-US" dirty="0">
                <a:ea typeface="+mn-lt"/>
                <a:cs typeface="+mn-lt"/>
              </a:rPr>
              <a:t> → governance/trust + platform behavior change.</a:t>
            </a:r>
          </a:p>
          <a:p>
            <a:pPr marL="742950" lvl="1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Clr>
                <a:srgbClr val="9E361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ea typeface="+mn-lt"/>
                <a:cs typeface="+mn-lt"/>
              </a:rPr>
              <a:t>One-liner takeaway: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Each cluster has a distinct behavioral signature, education centers learning, job market centers economic impact, healthcare centers safety risk, and ethics spreads across society + tech + daily behavior.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D32CA8-1A28-3843-9128-4880FAE44B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2E58-8D6F-4C1E-43F4-1D5E3CB2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 What the Data Proves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E814-E33D-3902-18DA-D26C5E1E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Using a reproducible, competition-compliant pipeline</a:t>
            </a:r>
            <a:r>
              <a:rPr lang="en-US" dirty="0"/>
              <a:t>, we analyzed </a:t>
            </a:r>
            <a:r>
              <a:rPr lang="en-US" b="1" dirty="0"/>
              <a:t>3,500 AI news headlines</a:t>
            </a:r>
            <a:r>
              <a:rPr lang="en-US" dirty="0"/>
              <a:t> to study AI’s impact on human behavior.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Technical foundation: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Semantic embeddings capture meaning beyond keywords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K-Means clustering (</a:t>
            </a:r>
            <a:r>
              <a:rPr lang="en-US" b="1" dirty="0"/>
              <a:t>k = 4, silhouette-validated</a:t>
            </a:r>
            <a:r>
              <a:rPr lang="en-US" dirty="0"/>
              <a:t>) reveals natural domains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Distance-to-centroid analysis confirms cluster quality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Sentiment analysis identifies fear vs optimism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LLM interpretation (Qwen2.5-7B, zero temperature) generates grounded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 result:</a:t>
            </a:r>
            <a:br>
              <a:rPr lang="en-US" dirty="0"/>
            </a:br>
            <a:r>
              <a:rPr lang="en-US" dirty="0"/>
              <a:t>AI discourse has evolved from </a:t>
            </a:r>
            <a:r>
              <a:rPr lang="en-US" i="1" dirty="0"/>
              <a:t>technical novelty</a:t>
            </a:r>
            <a:r>
              <a:rPr lang="en-US" dirty="0"/>
              <a:t> into </a:t>
            </a:r>
            <a:r>
              <a:rPr lang="en-US" b="1" dirty="0"/>
              <a:t>measurable behavioral transformation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EFECA-A732-DEA9-3218-D4722A5EB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1133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F7AB-540C-E63D-E8C5-CE0F181A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Conclusion: Behavioral Insights at Scale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EC79-BD26-2B33-B67C-381868790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changes when AI enters human systems:</a:t>
            </a:r>
            <a:endParaRPr lang="en-US" dirty="0"/>
          </a:p>
          <a:p>
            <a:pPr lvl="1"/>
            <a:r>
              <a:rPr lang="en-US" b="1" dirty="0"/>
              <a:t>Decision-making:</a:t>
            </a:r>
            <a:r>
              <a:rPr lang="en-US" dirty="0"/>
              <a:t> Humans shift from acting → overseeing</a:t>
            </a:r>
          </a:p>
          <a:p>
            <a:pPr lvl="1"/>
            <a:r>
              <a:rPr lang="en-US" b="1" dirty="0"/>
              <a:t>Skill valuation:</a:t>
            </a:r>
            <a:r>
              <a:rPr lang="en-US" dirty="0"/>
              <a:t> Static expertise → continuous reskilling</a:t>
            </a:r>
          </a:p>
          <a:p>
            <a:pPr lvl="1"/>
            <a:r>
              <a:rPr lang="en-US" b="1" dirty="0"/>
              <a:t>Trust models:</a:t>
            </a:r>
            <a:r>
              <a:rPr lang="en-US" dirty="0"/>
              <a:t> Human authority → </a:t>
            </a:r>
            <a:r>
              <a:rPr lang="en-US" dirty="0" err="1"/>
              <a:t>human+AI</a:t>
            </a:r>
            <a:r>
              <a:rPr lang="en-US" dirty="0"/>
              <a:t> verification</a:t>
            </a:r>
          </a:p>
          <a:p>
            <a:pPr lvl="1"/>
            <a:r>
              <a:rPr lang="en-US" b="1" dirty="0"/>
              <a:t>Responsibility:</a:t>
            </a:r>
            <a:r>
              <a:rPr lang="en-US" dirty="0"/>
              <a:t> Individual judgment → shared human–machine accountability</a:t>
            </a:r>
          </a:p>
          <a:p>
            <a:r>
              <a:rPr lang="en-US" b="1" dirty="0"/>
              <a:t>Evidence from the data:</a:t>
            </a:r>
            <a:endParaRPr lang="en-US" dirty="0"/>
          </a:p>
          <a:p>
            <a:pPr lvl="1"/>
            <a:r>
              <a:rPr lang="en-US" dirty="0"/>
              <a:t>Work &amp; Education dominate discourse (</a:t>
            </a:r>
            <a:r>
              <a:rPr lang="en-US" b="1" dirty="0"/>
              <a:t>27.3% pipeline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Healthcare shows the highest risk framing (</a:t>
            </a:r>
            <a:r>
              <a:rPr lang="en-US" b="1" dirty="0"/>
              <a:t>19.4% negative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Ethics is the most fragmented domain → trust instability</a:t>
            </a:r>
          </a:p>
          <a:p>
            <a:pPr lvl="1"/>
            <a:r>
              <a:rPr lang="en-US" dirty="0"/>
              <a:t>Psychological impacts are underreported (</a:t>
            </a:r>
            <a:r>
              <a:rPr lang="en-US" b="1" dirty="0"/>
              <a:t>3.7%</a:t>
            </a:r>
            <a:r>
              <a:rPr lang="en-US" dirty="0"/>
              <a:t>) despite systemic change</a:t>
            </a:r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AI reshapes not just </a:t>
            </a:r>
            <a:r>
              <a:rPr lang="en-US" i="1" dirty="0"/>
              <a:t>what we do</a:t>
            </a:r>
            <a:r>
              <a:rPr lang="en-US" dirty="0"/>
              <a:t>, but </a:t>
            </a:r>
            <a:r>
              <a:rPr lang="en-US" b="1" dirty="0"/>
              <a:t>how we think about control, trust, and responsibility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B241F-37EF-35BA-E20F-AC07D872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95206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B473-05ED-ED34-1A3F-81ABF187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7561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Conclusion: The Mirror’s Answer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D8D20-16E3-5E10-448E-3B7334860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Yes, AI is transforming us across all four pathways: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Education:</a:t>
            </a:r>
            <a:r>
              <a:rPr lang="en-US" dirty="0"/>
              <a:t> AI-augmented learning challenges integrity and identity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Job Market Growth:</a:t>
            </a:r>
            <a:r>
              <a:rPr lang="en-US" dirty="0"/>
              <a:t> </a:t>
            </a:r>
            <a:r>
              <a:rPr lang="en-US" dirty="0" err="1"/>
              <a:t>Human+AI</a:t>
            </a:r>
            <a:r>
              <a:rPr lang="en-US" dirty="0"/>
              <a:t> becomes the new productivity baseline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Healthcare:</a:t>
            </a:r>
            <a:r>
              <a:rPr lang="en-US" dirty="0"/>
              <a:t> Trust is recalibrated toward AI-assisted care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Ethics:</a:t>
            </a:r>
            <a:r>
              <a:rPr lang="en-US" dirty="0"/>
              <a:t> Society moves from trust to constant verification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Final takeaway:</a:t>
            </a:r>
            <a:br>
              <a:rPr lang="en-US" dirty="0"/>
            </a:br>
            <a:r>
              <a:rPr lang="en-US" dirty="0"/>
              <a:t>	AI’s transformation is </a:t>
            </a:r>
            <a:r>
              <a:rPr lang="en-US" b="1" dirty="0"/>
              <a:t>inevitable</a:t>
            </a:r>
            <a:r>
              <a:rPr lang="en-US" dirty="0"/>
              <a:t> but whether it </a:t>
            </a:r>
            <a:r>
              <a:rPr lang="en-US" b="1" dirty="0"/>
              <a:t>amplifies human potential or erodes human agency </a:t>
            </a:r>
            <a:r>
              <a:rPr lang="en-US" dirty="0"/>
              <a:t>depends on </a:t>
            </a:r>
            <a:r>
              <a:rPr lang="en-US" b="1" dirty="0"/>
              <a:t>policy, education, and governance choices made today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highlight>
                  <a:srgbClr val="FFFF00"/>
                </a:highlight>
              </a:rPr>
              <a:t>The technology is advancing. The choice remains human.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836B8-7923-2FBA-90D5-537115E979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40840" y="464243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1094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1A845-ACF2-C8DF-AFFC-7C24DEDF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PROMPTS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C02D4-8BAF-C1AE-7935-FF5E39786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114300" indent="0">
              <a:lnSpc>
                <a:spcPct val="120000"/>
              </a:lnSpc>
              <a:buNone/>
            </a:pPr>
            <a:r>
              <a:rPr lang="en-US" sz="2500" dirty="0"/>
              <a:t>Recommendations</a:t>
            </a:r>
            <a:r>
              <a:rPr lang="en-US" dirty="0"/>
              <a:t> </a:t>
            </a:r>
          </a:p>
          <a:p>
            <a:pPr marL="114300" indent="0">
              <a:lnSpc>
                <a:spcPct val="120000"/>
              </a:lnSpc>
              <a:buNone/>
            </a:pPr>
            <a:br>
              <a:rPr lang="en-US" dirty="0"/>
            </a:br>
            <a:r>
              <a:rPr lang="en-US" dirty="0"/>
              <a:t>prompt = (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"These headlines belong to ONE topic cluster.\n"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</a:t>
            </a:r>
            <a:r>
              <a:rPr lang="en-US" dirty="0" err="1"/>
              <a:t>f"Task</a:t>
            </a:r>
            <a:r>
              <a:rPr lang="en-US" dirty="0"/>
              <a:t>: produce exactly {</a:t>
            </a:r>
            <a:r>
              <a:rPr lang="en-US" dirty="0" err="1"/>
              <a:t>final_recs</a:t>
            </a:r>
            <a:r>
              <a:rPr lang="en-US" dirty="0"/>
              <a:t>} actionable recommendations addressing the dominant issues/trends.\n"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"Rules:\n"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Output ONLY a numbered list\n"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Each item 8–16 words\n"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No preface, no explanation, no extra text\n\n"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"Top cluster keywords:\n- " + "\n- ".join(</a:t>
            </a:r>
            <a:r>
              <a:rPr lang="en-US" dirty="0" err="1"/>
              <a:t>kws</a:t>
            </a:r>
            <a:r>
              <a:rPr lang="en-US" dirty="0"/>
              <a:t>) + "\n\n"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"Sample headlines:\n- " + "\n- ".join(titles)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)</a:t>
            </a:r>
          </a:p>
          <a:p>
            <a:pPr marL="114300" indent="0">
              <a:buClr>
                <a:srgbClr val="9E3611"/>
              </a:buClr>
              <a:buNone/>
            </a:pPr>
            <a:endParaRPr lang="en-US" dirty="0"/>
          </a:p>
          <a:p>
            <a:pPr marL="114300" indent="0">
              <a:buClr>
                <a:srgbClr val="9E3611"/>
              </a:buClr>
              <a:buNone/>
            </a:pPr>
            <a:endParaRPr lang="en-US" dirty="0"/>
          </a:p>
          <a:p>
            <a:pPr marL="114300" indent="0">
              <a:buClr>
                <a:srgbClr val="9E3611"/>
              </a:buClr>
              <a:buNone/>
            </a:pPr>
            <a:r>
              <a:rPr lang="en-US" sz="2500" dirty="0"/>
              <a:t>Naming</a:t>
            </a:r>
          </a:p>
          <a:p>
            <a:pPr marL="114300" indent="0">
              <a:buClr>
                <a:srgbClr val="9E3611"/>
              </a:buClr>
              <a:buNone/>
            </a:pPr>
            <a:endParaRPr lang="en-US" dirty="0"/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prompt = (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"Name this topic cluster.\n"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"Output ONLY ONE label, 1–4 words.\n"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"Rules:\n"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No punctuation, no quotes, no explanation\n"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DO NOT use the words: AI, artificial intelligence, LLM, ChatGPT, OpenAI, GenAI\n"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Do NOT output generic words like: system, general, technology, tech, news, global, world\n"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"- Choose the most representative real-world topic for MOST headlines\n\n"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"Top keywords:\n- " + "\n- ".join(</a:t>
            </a:r>
            <a:r>
              <a:rPr lang="en-US" dirty="0" err="1"/>
              <a:t>kws</a:t>
            </a:r>
            <a:r>
              <a:rPr lang="en-US" dirty="0"/>
              <a:t>) + "\n\n"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    "Sample headlines:\n- " + "\n- ".join(titles)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dirty="0"/>
              <a:t>   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3D226-2BF0-3824-6A4C-5F69A44378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33912" y="4628581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813925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8229-62C5-35E9-2E76-6709E9EE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APPENDIX (LLM Prompts)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BF402-C0EB-C070-1DA5-1DD0FF65A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a CSV of ~3,500 AI-related news headlines. What basic cleaning steps should I apply before doing any NLP or clustering?</a:t>
            </a:r>
          </a:p>
          <a:p>
            <a:r>
              <a:rPr lang="en-US" dirty="0"/>
              <a:t>For short news headlines, what sentence embedding model would work well, and why? How should I use it in Python?</a:t>
            </a:r>
          </a:p>
          <a:p>
            <a:r>
              <a:rPr lang="en-US" dirty="0"/>
              <a:t>After running K-Means, how can I tell if the clusters are actually meaningful or just random groupings?</a:t>
            </a:r>
          </a:p>
          <a:p>
            <a:r>
              <a:rPr lang="en-US" dirty="0"/>
              <a:t>I want to understand what topics define each cluster. What’s a good way to extract representative keywords for clustered text?</a:t>
            </a:r>
          </a:p>
          <a:p>
            <a:r>
              <a:rPr lang="en-US" dirty="0"/>
              <a:t>I want to use an LLM to summarize patterns from each cluster. How can I structure prompts, so it interprets results instead of inventing them?</a:t>
            </a:r>
          </a:p>
          <a:p>
            <a:r>
              <a:rPr lang="en-US" dirty="0"/>
              <a:t>How can I clearly explain that our findings are data-driven and not just opinions, especially to a non-technical audience?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CDB41-F243-E077-A8AA-A59E833346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25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1754</TotalTime>
  <Words>3459</Words>
  <Application>Microsoft Office PowerPoint</Application>
  <PresentationFormat>On-screen Show (16:9)</PresentationFormat>
  <Paragraphs>436</Paragraphs>
  <Slides>34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Calibri</vt:lpstr>
      <vt:lpstr>Rockwell</vt:lpstr>
      <vt:lpstr>Arial</vt:lpstr>
      <vt:lpstr>Wingdings</vt:lpstr>
      <vt:lpstr>Montserrat</vt:lpstr>
      <vt:lpstr>Rockwell Condensed</vt:lpstr>
      <vt:lpstr>Rockwell Extra Bold</vt:lpstr>
      <vt:lpstr>Wingdings 3</vt:lpstr>
      <vt:lpstr>Wood Type</vt:lpstr>
      <vt:lpstr>Mirror, Mirror on the Wall, Is AI Transforming Us All?</vt:lpstr>
      <vt:lpstr>What Do We Mean by “Human Behavior”?</vt:lpstr>
      <vt:lpstr> Why News Headlines Reveal Human Behavior</vt:lpstr>
      <vt:lpstr>Why AI Changes Human Behavior (Not Just Technology)</vt:lpstr>
      <vt:lpstr>Overview</vt:lpstr>
      <vt:lpstr>Competition Guidelines</vt:lpstr>
      <vt:lpstr>"Technical Approach: Multi-Method Pipeline"</vt:lpstr>
      <vt:lpstr>Loading the dataset</vt:lpstr>
      <vt:lpstr>Semantic Embeddings</vt:lpstr>
      <vt:lpstr>K-MEANS CLUSTERING</vt:lpstr>
      <vt:lpstr>Distance-to-Centroid Distribution</vt:lpstr>
      <vt:lpstr>Automated Cluster Naming</vt:lpstr>
      <vt:lpstr>Visualizing the AI Impact Landscape</vt:lpstr>
      <vt:lpstr>Thematic Discovery – TF-IDF Keywords</vt:lpstr>
      <vt:lpstr>Sentiment Analysis – Human Emotional Context</vt:lpstr>
      <vt:lpstr>Generating Recommendations (LLM)</vt:lpstr>
      <vt:lpstr>Is AI Transforming us all ? - YES</vt:lpstr>
      <vt:lpstr>Education: Redefining Learning &amp; Teaching</vt:lpstr>
      <vt:lpstr>Job Market Impact: Economic Anxiety &amp; Adoption</vt:lpstr>
      <vt:lpstr>Healthcare: Trust Recalibration</vt:lpstr>
      <vt:lpstr>Ethics: Epistemic Crisis</vt:lpstr>
      <vt:lpstr>Which News Outlets Frame AI Differently? </vt:lpstr>
      <vt:lpstr>Which News Outlets Frame AI Differently?  </vt:lpstr>
      <vt:lpstr>PREDEFINED CLASS LABEL DEEP DIVE</vt:lpstr>
      <vt:lpstr>PREDEFINED CLASS LABEL DEEP DIVE</vt:lpstr>
      <vt:lpstr>Where is the fear concentrated</vt:lpstr>
      <vt:lpstr>Percentage of Negative Headlines per Cluster </vt:lpstr>
      <vt:lpstr>Behavioral Dimensions Profiles by cluster</vt:lpstr>
      <vt:lpstr>Behavioral Dimension Profiles by Cluster (Slide Explanation)</vt:lpstr>
      <vt:lpstr>Conclusion: What the Data Proves</vt:lpstr>
      <vt:lpstr>Conclusion: Behavioral Insights at Scale</vt:lpstr>
      <vt:lpstr>Conclusion: The Mirror’s Answer</vt:lpstr>
      <vt:lpstr>System PROMPTS</vt:lpstr>
      <vt:lpstr>APPENDIX (LLM Prompts)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Hanumath Chowdary</cp:lastModifiedBy>
  <cp:revision>2</cp:revision>
  <dcterms:modified xsi:type="dcterms:W3CDTF">2026-02-01T04:41:44Z</dcterms:modified>
</cp:coreProperties>
</file>